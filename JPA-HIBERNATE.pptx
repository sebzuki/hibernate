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38"/>
  </p:notesMasterIdLst>
  <p:handoutMasterIdLst>
    <p:handoutMasterId r:id="rId39"/>
  </p:handoutMasterIdLst>
  <p:sldIdLst>
    <p:sldId id="256" r:id="rId5"/>
    <p:sldId id="279" r:id="rId6"/>
    <p:sldId id="328" r:id="rId7"/>
    <p:sldId id="300" r:id="rId8"/>
    <p:sldId id="301" r:id="rId9"/>
    <p:sldId id="321" r:id="rId10"/>
    <p:sldId id="292" r:id="rId11"/>
    <p:sldId id="293" r:id="rId12"/>
    <p:sldId id="303" r:id="rId13"/>
    <p:sldId id="295" r:id="rId14"/>
    <p:sldId id="307" r:id="rId15"/>
    <p:sldId id="323" r:id="rId16"/>
    <p:sldId id="322" r:id="rId17"/>
    <p:sldId id="312" r:id="rId18"/>
    <p:sldId id="308" r:id="rId19"/>
    <p:sldId id="309" r:id="rId20"/>
    <p:sldId id="311" r:id="rId21"/>
    <p:sldId id="310" r:id="rId22"/>
    <p:sldId id="329" r:id="rId23"/>
    <p:sldId id="305" r:id="rId24"/>
    <p:sldId id="315" r:id="rId25"/>
    <p:sldId id="317" r:id="rId26"/>
    <p:sldId id="320" r:id="rId27"/>
    <p:sldId id="313" r:id="rId28"/>
    <p:sldId id="314" r:id="rId29"/>
    <p:sldId id="318" r:id="rId30"/>
    <p:sldId id="319" r:id="rId31"/>
    <p:sldId id="324" r:id="rId32"/>
    <p:sldId id="325" r:id="rId33"/>
    <p:sldId id="326" r:id="rId34"/>
    <p:sldId id="306" r:id="rId35"/>
    <p:sldId id="299" r:id="rId36"/>
    <p:sldId id="327" r:id="rId37"/>
  </p:sldIdLst>
  <p:sldSz cx="12192000" cy="6858000"/>
  <p:notesSz cx="6858000" cy="9144000"/>
  <p:defaultTextStyle>
    <a:defPPr rtl="0"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ienvenue" id="{E75E278A-FF0E-49A4-B170-79828D63BBAD}">
          <p14:sldIdLst>
            <p14:sldId id="256"/>
            <p14:sldId id="279"/>
            <p14:sldId id="328"/>
            <p14:sldId id="300"/>
            <p14:sldId id="301"/>
            <p14:sldId id="321"/>
            <p14:sldId id="292"/>
            <p14:sldId id="293"/>
            <p14:sldId id="303"/>
            <p14:sldId id="295"/>
            <p14:sldId id="307"/>
            <p14:sldId id="323"/>
            <p14:sldId id="322"/>
            <p14:sldId id="312"/>
            <p14:sldId id="308"/>
            <p14:sldId id="309"/>
            <p14:sldId id="311"/>
            <p14:sldId id="310"/>
            <p14:sldId id="329"/>
            <p14:sldId id="305"/>
            <p14:sldId id="315"/>
            <p14:sldId id="317"/>
            <p14:sldId id="320"/>
            <p14:sldId id="313"/>
            <p14:sldId id="314"/>
            <p14:sldId id="318"/>
            <p14:sldId id="319"/>
            <p14:sldId id="324"/>
            <p14:sldId id="325"/>
            <p14:sldId id="326"/>
            <p14:sldId id="306"/>
            <p14:sldId id="299"/>
            <p14:sldId id="32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eur" initials="A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DD462F"/>
    <a:srgbClr val="404040"/>
    <a:srgbClr val="FF9B45"/>
    <a:srgbClr val="F8CFB6"/>
    <a:srgbClr val="F8CAB6"/>
    <a:srgbClr val="923922"/>
    <a:srgbClr val="F5F5F5"/>
    <a:srgbClr val="F2F2F2"/>
    <a:srgbClr val="D2B4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98" autoAdjust="0"/>
    <p:restoredTop sz="82663" autoAdjust="0"/>
  </p:normalViewPr>
  <p:slideViewPr>
    <p:cSldViewPr snapToGrid="0">
      <p:cViewPr varScale="1">
        <p:scale>
          <a:sx n="71" d="100"/>
          <a:sy n="71" d="100"/>
        </p:scale>
        <p:origin x="1334" y="4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9" d="100"/>
          <a:sy n="89" d="100"/>
        </p:scale>
        <p:origin x="3774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commentAuthors" Target="comment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heme" Target="theme/theme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3C80F580-3B6A-44CD-9A1E-E890016126F8}" type="datetime1">
              <a:rPr lang="fr-FR" smtClean="0"/>
              <a:t>21/06/2021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en-tête 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fr-FR" noProof="1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DF8ED89-FBF4-48E3-B6C6-C071DA98F802}" type="datetime1">
              <a:rPr lang="fr-FR" noProof="1" dirty="0" smtClean="0"/>
              <a:t>21/06/2021</a:t>
            </a:fld>
            <a:endParaRPr lang="fr-FR" noProof="1"/>
          </a:p>
        </p:txBody>
      </p:sp>
      <p:sp>
        <p:nvSpPr>
          <p:cNvPr id="4" name="Espace réservé de l’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fr-FR" noProof="1"/>
          </a:p>
        </p:txBody>
      </p:sp>
      <p:sp>
        <p:nvSpPr>
          <p:cNvPr id="5" name="Espace réservé des commentaires 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r-FR" noProof="1"/>
              <a:t>Modifiez les styles du texte du masque</a:t>
            </a:r>
          </a:p>
          <a:p>
            <a:pPr lvl="1" rtl="0"/>
            <a:r>
              <a:rPr lang="fr-FR" noProof="1"/>
              <a:t>Deuxième niveau</a:t>
            </a:r>
          </a:p>
          <a:p>
            <a:pPr lvl="2" rtl="0"/>
            <a:r>
              <a:rPr lang="fr-FR" noProof="1"/>
              <a:t>Troisième niveau</a:t>
            </a:r>
          </a:p>
          <a:p>
            <a:pPr lvl="3" rtl="0"/>
            <a:r>
              <a:rPr lang="fr-FR" noProof="1"/>
              <a:t>Quatrième niveau</a:t>
            </a:r>
          </a:p>
          <a:p>
            <a:pPr lvl="4" rtl="0"/>
            <a:r>
              <a:rPr lang="fr-FR" noProof="1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fr-FR" noProof="1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DF61EA0F-A667-4B49-8422-0062BC55E249}" type="slidenum">
              <a:rPr lang="fr-FR" noProof="1" dirty="0" smtClean="0"/>
              <a:t>‹N°›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’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478950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4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976932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5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8274653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6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4394727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7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0908525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8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8092340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9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7676100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Exemple : je récupère une liste d’écoles par le nom ou la location, 500 résultats, 500 select unitaires vers la table « director »  !</a:t>
            </a:r>
          </a:p>
          <a:p>
            <a:r>
              <a:rPr lang="fr-FR" noProof="1"/>
              <a:t>Eager ne veut pas dire que les entités seront récupérées correctement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10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184049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11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80063372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On va parler du problème du N+1 en détail avec un exemple classique de sortie d’entité via un </a:t>
            </a:r>
            <a:r>
              <a:rPr lang="fr-FR" dirty="0" err="1"/>
              <a:t>controller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12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2562823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Une évolution de la base de données change immédiatement le contrat d’interface </a:t>
            </a:r>
            <a:r>
              <a:rPr lang="fr-FR" noProof="1">
                <a:sym typeface="Wingdings" panose="05000000000000000000" pitchFamily="2" charset="2"/>
              </a:rPr>
              <a:t> </a:t>
            </a:r>
            <a:r>
              <a:rPr lang="fr-FR" noProof="1"/>
              <a:t>coucou les clients : surprise </a:t>
            </a:r>
            <a:r>
              <a:rPr lang="fr-FR" noProof="1">
                <a:sym typeface="Wingdings" panose="05000000000000000000" pitchFamily="2" charset="2"/>
              </a:rPr>
              <a:t></a:t>
            </a:r>
          </a:p>
          <a:p>
            <a:r>
              <a:rPr lang="fr-FR" noProof="1">
                <a:sym typeface="Wingdings" panose="05000000000000000000" pitchFamily="2" charset="2"/>
              </a:rPr>
              <a:t>Obligation d’ajouter des annotations Jackson partout, qui ne conviendront de toute façon pas à tous les cas d’utilisation de votre controller</a:t>
            </a:r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13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90182104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Vous aurez un erreur type qui vons indiquera si la session est fermée : </a:t>
            </a:r>
            <a:r>
              <a:rPr lang="en-US" noProof="1"/>
              <a:t>failed to lazily initialize a collection of role</a:t>
            </a:r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14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6558457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15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4856200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Defaut : fonctionne très bien sur la récupération d’une seule entité, mais dès lors que l’on veut récupérer une liste avec ou sans pagination, nous arons bcp de N+1, Mais même sur une seule entite, on peut faire mieux</a:t>
            </a:r>
          </a:p>
          <a:p>
            <a:r>
              <a:rPr lang="fr-FR" noProof="1"/>
              <a:t>En plusieurs fois : finalement ce que l’on veut c’est pouvoir faire notre récupération de données en utilisant le mapping relationnel de nos entités et non le faire à la main</a:t>
            </a:r>
          </a:p>
          <a:p>
            <a:r>
              <a:rPr lang="fr-FR" noProof="1"/>
              <a:t>BatchSize : On va réduire le nombre de requête et on en aura autant que dans le cas par défaut mais quelque soit le nombre d’entités que l’on récupère (pour peu qu’il soit inférieur à x)</a:t>
            </a:r>
          </a:p>
          <a:p>
            <a:r>
              <a:rPr lang="fr-FR" noProof="1"/>
              <a:t>SubSelect : On aura de façon certaine une seule requête par relation, car au lieu d’avoir where id in (…) on aura un id in (subselect)</a:t>
            </a:r>
          </a:p>
          <a:p>
            <a:r>
              <a:rPr lang="fr-FR" noProof="1"/>
              <a:t>FETCH : il est déclaratif lors de la requête, donc pas dans le code c’est pour cette raison que l’ incompatibilité est en vert </a:t>
            </a:r>
            <a:r>
              <a:rPr lang="fr-FR" noProof="1">
                <a:sym typeface="Wingdings" panose="05000000000000000000" pitchFamily="2" charset="2"/>
              </a:rPr>
              <a:t></a:t>
            </a:r>
            <a:endParaRPr lang="fr-FR" noProof="1"/>
          </a:p>
          <a:p>
            <a:r>
              <a:rPr lang="fr-FR" noProof="1"/>
              <a:t>JPQL : Java Persistence Query Langage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16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6690334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Pas de BatchSize sur les relations OneToOne !!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17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854587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Réalise l’équivalent un CROSS JOIN, en effet, la clause JOIN se transforme en CROSS JOIN dès lors qu’elle est réalisée sur plusieurs entités non liées entre elles !</a:t>
            </a:r>
          </a:p>
          <a:p>
            <a:r>
              <a:rPr lang="fr-FR" noProof="1"/>
              <a:t>Et c’est le cas de Student et Teacher 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1"/>
              <a:t>A mettre d’office sur toutes les relations OneToOne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1"/>
              <a:t>Le produit cartesien pour une ou quelque grappe est bien meilleur que les autres solutions car ça ne fait qu’un seul SELECT.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1"/>
              <a:t>Et pour des temps aussi courts, c’est l’aller retour server BDD qui va compter le plus.</a:t>
            </a:r>
          </a:p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18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6804962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Réalise l’équivalent un CROSS JOIN, en effet, la clause JOIN se transforme en CROSS JOIN dès lors qu’elle est réalisée sur plusieurs entités non liées entre elles !</a:t>
            </a:r>
          </a:p>
          <a:p>
            <a:r>
              <a:rPr lang="fr-FR" noProof="1"/>
              <a:t>Et c’est le cas de Student et Teacher 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1"/>
              <a:t>A mettre d’office sur toutes les relations OneToOne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1"/>
              <a:t>Le produit cartesien pour une ou quelque grappe est bien meilleur que les autres solutions car ça ne fait qu’un seul SELECT.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1"/>
              <a:t>Et pour des temps aussi courts, c’est l’aller retour server BDD qui va compter le plus.</a:t>
            </a:r>
          </a:p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19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82515953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20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423131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Avec les batch size = taille de page sur les entités xxxToMany, on est pas mal mais on peut faire encore un peu mieux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21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758961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noProof="1"/>
              <a:t>select count(school0_.id) as col_0_0_ from school school0_</a:t>
            </a:r>
          </a:p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22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74006548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Maintenant on passe un peu aux choses sérieuses </a:t>
            </a:r>
            <a:r>
              <a:rPr lang="fr-FR" dirty="0">
                <a:sym typeface="Wingdings" panose="05000000000000000000" pitchFamily="2" charset="2"/>
              </a:rPr>
              <a:t></a:t>
            </a:r>
          </a:p>
          <a:p>
            <a:r>
              <a:rPr lang="fr-FR" dirty="0">
                <a:sym typeface="Wingdings" panose="05000000000000000000" pitchFamily="2" charset="2"/>
              </a:rPr>
              <a:t>Tout à l’heure j’ai dit que FETCHER les données n’était pas compatible avec la pagination !</a:t>
            </a:r>
          </a:p>
          <a:p>
            <a:r>
              <a:rPr lang="fr-FR" dirty="0">
                <a:sym typeface="Wingdings" panose="05000000000000000000" pitchFamily="2" charset="2"/>
              </a:rPr>
              <a:t>Avec une seule requête je peux faire planter le serveur !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smtClean="0"/>
              <a:t>23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64480882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On ne peut pas utiliser une entité pour récupérer le résultat, mais le mapping sera fait automatiquement par le système via une projection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24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68548242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25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380492032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Le résultat est le même dans les deux cas, je récupère un object ou une liste d’objets remplis avec le résultat de la requete</a:t>
            </a:r>
          </a:p>
          <a:p>
            <a:r>
              <a:rPr lang="fr-FR" noProof="1"/>
              <a:t>Petite note sur le fait que ces objects peuvent sortir des controllers car ils ne sont pas liés au modèle de données et correspondent à un besoin métier précis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26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2632896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27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512973995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28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015775768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1"/>
              <a:t>Dès que vous souhaitez récupérer des listes très grandes (avec pagination de préférence), utiliser les annotations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noProof="1"/>
              <a:t>Et en plus ça reste copmpatible avec le cas précédent !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29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06762440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30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44694941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noProof="1"/>
              <a:t>Le premier properties est utile, j’en reparle dans le slide suivant !</a:t>
            </a:r>
          </a:p>
          <a:p>
            <a:r>
              <a:rPr lang="fr-FR" noProof="1"/>
              <a:t>Open in view va vous permettre de détecter plus facilement les N+1</a:t>
            </a:r>
          </a:p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31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9845712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32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13590222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noProof="1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DF61EA0F-A667-4B49-8422-0062BC55E249}" type="slidenum">
              <a:rPr lang="fr-FR" noProof="1" dirty="0" smtClean="0"/>
              <a:t>33</a:t>
            </a:fld>
            <a:endParaRPr lang="fr-FR" noProof="1"/>
          </a:p>
        </p:txBody>
      </p:sp>
    </p:spTree>
    <p:extLst>
      <p:ext uri="{BB962C8B-B14F-4D97-AF65-F5344CB8AC3E}">
        <p14:creationId xmlns:p14="http://schemas.microsoft.com/office/powerpoint/2010/main" val="25945387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80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fr-FR" noProof="0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 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fr-FR" sz="1800" noProof="0"/>
          </a:p>
        </p:txBody>
      </p:sp>
      <p:cxnSp>
        <p:nvCxnSpPr>
          <p:cNvPr id="12" name="Connecteur droit 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Modifiez les styles du texte du masque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Deuxième niveau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Troisième niveau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Quatrième niveau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Cinquième niveau</a:t>
            </a:r>
          </a:p>
        </p:txBody>
      </p:sp>
      <p:sp>
        <p:nvSpPr>
          <p:cNvPr id="6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7DF3CA4B-903E-431D-AF93-2AD02E04DE8A}" type="datetime1">
              <a:rPr lang="fr-FR" noProof="0" smtClean="0"/>
              <a:t>21/06/2021</a:t>
            </a:fld>
            <a:endParaRPr lang="fr-FR" noProof="0"/>
          </a:p>
        </p:txBody>
      </p:sp>
      <p:sp>
        <p:nvSpPr>
          <p:cNvPr id="7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8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-têt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800" noProof="0"/>
          </a:p>
        </p:txBody>
      </p:sp>
      <p:sp>
        <p:nvSpPr>
          <p:cNvPr id="10" name="Rectangle 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fr-FR" sz="1800" noProof="0"/>
          </a:p>
        </p:txBody>
      </p:sp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7" name="Espace réservé du contenu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Modifiez les styles du texte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Deuxième niveau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Troisième niveau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Quatrième niveau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fr-FR" noProof="0"/>
              <a:t>Cinquième niveau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 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fr-FR" sz="1800" noProof="0"/>
          </a:p>
        </p:txBody>
      </p:sp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fr-FR" noProof="0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fr-FR" noProof="0"/>
              <a:t>Modifiez les styles du texte du masque</a:t>
            </a:r>
          </a:p>
          <a:p>
            <a:pPr lvl="1" rtl="0"/>
            <a:r>
              <a:rPr lang="fr-FR" noProof="0"/>
              <a:t>Deuxième niveau</a:t>
            </a:r>
          </a:p>
          <a:p>
            <a:pPr lvl="2" rtl="0"/>
            <a:r>
              <a:rPr lang="fr-FR" noProof="0"/>
              <a:t>Troisième niveau</a:t>
            </a:r>
          </a:p>
          <a:p>
            <a:pPr lvl="3" rtl="0"/>
            <a:r>
              <a:rPr lang="fr-FR" noProof="0"/>
              <a:t>Quatrième niveau</a:t>
            </a:r>
          </a:p>
          <a:p>
            <a:pPr lvl="4" rtl="0"/>
            <a:r>
              <a:rPr lang="fr-FR" noProof="0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802CD4F2-526B-4131-B91B-856C46007FC5}" type="datetime1">
              <a:rPr lang="fr-FR" noProof="0" smtClean="0"/>
              <a:t>21/06/2021</a:t>
            </a:fld>
            <a:endParaRPr lang="fr-FR" noProof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endParaRPr lang="fr-FR" noProof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rtl="0"/>
            <a:fld id="{9860EDB8-5305-433F-BE41-D7A86D811DB3}" type="slidenum">
              <a:rPr lang="fr-FR" noProof="0" smtClean="0"/>
              <a:pPr/>
              <a:t>‹N°›</a:t>
            </a:fld>
            <a:endParaRPr lang="fr-FR" noProof="0"/>
          </a:p>
        </p:txBody>
      </p:sp>
      <p:cxnSp>
        <p:nvCxnSpPr>
          <p:cNvPr id="8" name="Connecteur droit 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 1"/>
          <p:cNvSpPr>
            <a:spLocks noGrp="1"/>
          </p:cNvSpPr>
          <p:nvPr>
            <p:ph type="ctrTitle"/>
          </p:nvPr>
        </p:nvSpPr>
        <p:spPr>
          <a:xfrm>
            <a:off x="2771715" y="2201069"/>
            <a:ext cx="5801096" cy="3364038"/>
          </a:xfrm>
        </p:spPr>
        <p:txBody>
          <a:bodyPr rtlCol="0" anchor="ctr" anchorCtr="0">
            <a:normAutofit fontScale="90000"/>
          </a:bodyPr>
          <a:lstStyle/>
          <a:p>
            <a:r>
              <a:rPr lang="fr-FR" sz="4800" dirty="0">
                <a:solidFill>
                  <a:schemeClr val="bg1"/>
                </a:solidFill>
              </a:rPr>
              <a:t>Spring Data</a:t>
            </a:r>
            <a:br>
              <a:rPr lang="fr-FR" sz="4800" dirty="0">
                <a:solidFill>
                  <a:schemeClr val="bg1"/>
                </a:solidFill>
              </a:rPr>
            </a:br>
            <a:r>
              <a:rPr lang="fr-FR" sz="4800" dirty="0">
                <a:solidFill>
                  <a:schemeClr val="bg1"/>
                </a:solidFill>
              </a:rPr>
              <a:t>JPA</a:t>
            </a:r>
            <a:br>
              <a:rPr lang="fr-FR" sz="4800" dirty="0">
                <a:solidFill>
                  <a:schemeClr val="bg1"/>
                </a:solidFill>
              </a:rPr>
            </a:br>
            <a:r>
              <a:rPr lang="fr-FR" sz="4800" dirty="0">
                <a:solidFill>
                  <a:schemeClr val="bg1"/>
                </a:solidFill>
              </a:rPr>
              <a:t>Hibernate</a:t>
            </a:r>
            <a:br>
              <a:rPr lang="fr-FR" sz="4800" dirty="0">
                <a:solidFill>
                  <a:schemeClr val="bg1"/>
                </a:solidFill>
              </a:rPr>
            </a:br>
            <a:br>
              <a:rPr lang="fr-FR" sz="4800" dirty="0">
                <a:solidFill>
                  <a:schemeClr val="bg1"/>
                </a:solidFill>
              </a:rPr>
            </a:br>
            <a:r>
              <a:rPr lang="fr-FR" sz="4800" dirty="0">
                <a:solidFill>
                  <a:schemeClr val="bg1"/>
                </a:solidFill>
              </a:rPr>
              <a:t>La belle vie ;)</a:t>
            </a:r>
            <a:br>
              <a:rPr lang="fr-FR" sz="4800" dirty="0">
                <a:solidFill>
                  <a:schemeClr val="bg1"/>
                </a:solidFill>
              </a:rPr>
            </a:br>
            <a:endParaRPr lang="fr-FR" sz="4800" dirty="0">
              <a:solidFill>
                <a:schemeClr val="bg1"/>
              </a:solidFill>
            </a:endParaRPr>
          </a:p>
        </p:txBody>
      </p:sp>
      <p:pic>
        <p:nvPicPr>
          <p:cNvPr id="1026" name="Picture 2" descr="Formation JPA avec Hibernate ⋆ Ambient Formations">
            <a:extLst>
              <a:ext uri="{FF2B5EF4-FFF2-40B4-BE49-F238E27FC236}">
                <a16:creationId xmlns:a16="http://schemas.microsoft.com/office/drawing/2014/main" id="{2BFD024F-43D9-4F8E-B2C1-259FBE37C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0359" y="2119610"/>
            <a:ext cx="1905000" cy="1666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73B57CA5-CF57-417D-87A5-8D4D7DB8E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3738" y="2119610"/>
            <a:ext cx="1656622" cy="1666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Spring Boot / Spring Data</a:t>
            </a:r>
            <a:endParaRPr lang="fr-FR" sz="1200" noProof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DDFFF470-9BA6-43F7-91BD-551442E249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900" y="1218389"/>
            <a:ext cx="7696200" cy="556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700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3CF6A7-E17D-4316-8AD8-CAC6DB3A7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Le but de cette 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59C144-B174-42C5-8664-9366D104618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9495" y="2560320"/>
            <a:ext cx="10790493" cy="3977640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dirty="0"/>
              <a:t>Identifier les </a:t>
            </a:r>
            <a:r>
              <a:rPr lang="fr-FR" dirty="0" err="1"/>
              <a:t>mappings</a:t>
            </a:r>
            <a:r>
              <a:rPr lang="fr-FR" dirty="0"/>
              <a:t> qui peuvent poser des problèmes de performance (N+1)</a:t>
            </a:r>
            <a:br>
              <a:rPr lang="fr-FR" dirty="0"/>
            </a:br>
            <a:r>
              <a:rPr lang="fr-FR" dirty="0"/>
              <a:t>Et dans quelle situation !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fr-FR" dirty="0"/>
              <a:t>Quelques solutions pour y remédier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000041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6" y="448056"/>
            <a:ext cx="8762643" cy="640080"/>
          </a:xfrm>
        </p:spPr>
        <p:txBody>
          <a:bodyPr rtlCol="0">
            <a:normAutofit fontScale="90000"/>
          </a:bodyPr>
          <a:lstStyle/>
          <a:p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Notre modèle de démo qui va nous poser des problèmes !</a:t>
            </a:r>
            <a:endParaRPr lang="fr-FR" sz="1200" noProof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6FDDC8-2C00-4F9A-AB8E-EF99EE5648C4}"/>
              </a:ext>
            </a:extLst>
          </p:cNvPr>
          <p:cNvSpPr/>
          <p:nvPr/>
        </p:nvSpPr>
        <p:spPr>
          <a:xfrm>
            <a:off x="4564565" y="3959427"/>
            <a:ext cx="1598341" cy="899531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School</a:t>
            </a:r>
            <a:endParaRPr lang="fr-FR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B7CDAB-6E9D-44D6-8B5E-F22E19DD0B99}"/>
              </a:ext>
            </a:extLst>
          </p:cNvPr>
          <p:cNvSpPr/>
          <p:nvPr/>
        </p:nvSpPr>
        <p:spPr>
          <a:xfrm>
            <a:off x="3375097" y="1676288"/>
            <a:ext cx="1345581" cy="847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/>
              <a:t>Teacher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2E7C19-6088-4688-9A26-AF705083ED6A}"/>
              </a:ext>
            </a:extLst>
          </p:cNvPr>
          <p:cNvSpPr/>
          <p:nvPr/>
        </p:nvSpPr>
        <p:spPr>
          <a:xfrm>
            <a:off x="6036526" y="1676288"/>
            <a:ext cx="1345581" cy="847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Student</a:t>
            </a:r>
            <a:endParaRPr lang="fr-FR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C0BA884-352B-458D-8D61-FD51C39D4106}"/>
              </a:ext>
            </a:extLst>
          </p:cNvPr>
          <p:cNvSpPr/>
          <p:nvPr/>
        </p:nvSpPr>
        <p:spPr>
          <a:xfrm>
            <a:off x="4690945" y="5334000"/>
            <a:ext cx="1345581" cy="84749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 err="1"/>
              <a:t>Director</a:t>
            </a:r>
            <a:endParaRPr lang="fr-FR" dirty="0"/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7F6B096E-7555-49DE-97F9-4F76CA922EF0}"/>
              </a:ext>
            </a:extLst>
          </p:cNvPr>
          <p:cNvCxnSpPr>
            <a:stCxn id="2" idx="2"/>
            <a:endCxn id="8" idx="0"/>
          </p:cNvCxnSpPr>
          <p:nvPr/>
        </p:nvCxnSpPr>
        <p:spPr>
          <a:xfrm>
            <a:off x="5363736" y="4858958"/>
            <a:ext cx="0" cy="47504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359C55A1-49E5-45FE-843D-384BB0E57383}"/>
              </a:ext>
            </a:extLst>
          </p:cNvPr>
          <p:cNvCxnSpPr>
            <a:stCxn id="2" idx="0"/>
            <a:endCxn id="7" idx="2"/>
          </p:cNvCxnSpPr>
          <p:nvPr/>
        </p:nvCxnSpPr>
        <p:spPr>
          <a:xfrm flipV="1">
            <a:off x="5363736" y="2523781"/>
            <a:ext cx="1345581" cy="14356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EB086701-A82E-4118-A53D-28337C4AE9A3}"/>
              </a:ext>
            </a:extLst>
          </p:cNvPr>
          <p:cNvCxnSpPr>
            <a:stCxn id="2" idx="0"/>
            <a:endCxn id="3" idx="2"/>
          </p:cNvCxnSpPr>
          <p:nvPr/>
        </p:nvCxnSpPr>
        <p:spPr>
          <a:xfrm flipH="1" flipV="1">
            <a:off x="4047888" y="2523781"/>
            <a:ext cx="1315848" cy="1435646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1" name="ZoneTexte 20">
            <a:extLst>
              <a:ext uri="{FF2B5EF4-FFF2-40B4-BE49-F238E27FC236}">
                <a16:creationId xmlns:a16="http://schemas.microsoft.com/office/drawing/2014/main" id="{8D560C18-AE9C-4BCA-AE83-FEE72813561E}"/>
              </a:ext>
            </a:extLst>
          </p:cNvPr>
          <p:cNvSpPr txBox="1"/>
          <p:nvPr/>
        </p:nvSpPr>
        <p:spPr>
          <a:xfrm>
            <a:off x="5363735" y="5096478"/>
            <a:ext cx="252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1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FA4A130-0378-41FC-AD1F-7D279C90D51F}"/>
              </a:ext>
            </a:extLst>
          </p:cNvPr>
          <p:cNvSpPr txBox="1"/>
          <p:nvPr/>
        </p:nvSpPr>
        <p:spPr>
          <a:xfrm>
            <a:off x="5363734" y="4847467"/>
            <a:ext cx="252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1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60F0A7F-022C-404F-AEEC-5B2D7A2D67CC}"/>
              </a:ext>
            </a:extLst>
          </p:cNvPr>
          <p:cNvSpPr txBox="1"/>
          <p:nvPr/>
        </p:nvSpPr>
        <p:spPr>
          <a:xfrm>
            <a:off x="5490115" y="3702167"/>
            <a:ext cx="252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6292132-D882-4DFD-B3C1-86879C009E17}"/>
              </a:ext>
            </a:extLst>
          </p:cNvPr>
          <p:cNvSpPr txBox="1"/>
          <p:nvPr/>
        </p:nvSpPr>
        <p:spPr>
          <a:xfrm>
            <a:off x="4971584" y="3698451"/>
            <a:ext cx="252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1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26C0F03D-20A4-484C-A2CD-CC355678D43D}"/>
              </a:ext>
            </a:extLst>
          </p:cNvPr>
          <p:cNvSpPr txBox="1"/>
          <p:nvPr/>
        </p:nvSpPr>
        <p:spPr>
          <a:xfrm>
            <a:off x="6666569" y="2504042"/>
            <a:ext cx="252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6902406-13B6-4A18-9E08-17661F3769C3}"/>
              </a:ext>
            </a:extLst>
          </p:cNvPr>
          <p:cNvSpPr txBox="1"/>
          <p:nvPr/>
        </p:nvSpPr>
        <p:spPr>
          <a:xfrm>
            <a:off x="3816497" y="2507461"/>
            <a:ext cx="25276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1138191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Notre modèle de démo : MCD</a:t>
            </a:r>
            <a:endParaRPr lang="fr-FR" sz="1200" noProof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59EA93D-BB12-4074-B5D6-E31A2CB72C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7" y="1221174"/>
            <a:ext cx="11105798" cy="5593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801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Sérialisation JSON / « grappe » complète</a:t>
            </a:r>
            <a:endParaRPr lang="fr-FR" sz="1200" noProof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3DA2E8-7087-4648-A0E3-49196BB601E5}"/>
              </a:ext>
            </a:extLst>
          </p:cNvPr>
          <p:cNvSpPr txBox="1"/>
          <p:nvPr/>
        </p:nvSpPr>
        <p:spPr>
          <a:xfrm>
            <a:off x="521208" y="1221760"/>
            <a:ext cx="325933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b="1" dirty="0">
                <a:solidFill>
                  <a:srgbClr val="0070C0"/>
                </a:solidFill>
              </a:rPr>
              <a:t> </a:t>
            </a:r>
            <a:r>
              <a:rPr lang="fr-FR" sz="1200" b="1" dirty="0"/>
              <a:t>{</a:t>
            </a:r>
          </a:p>
          <a:p>
            <a:r>
              <a:rPr lang="fr-FR" sz="1200" b="1" dirty="0"/>
              <a:t>    "id": 1,</a:t>
            </a:r>
          </a:p>
          <a:p>
            <a:r>
              <a:rPr lang="fr-FR" sz="1200" b="1" dirty="0"/>
              <a:t>    "location": "Location0",</a:t>
            </a:r>
          </a:p>
          <a:p>
            <a:r>
              <a:rPr lang="fr-FR" sz="1200" b="1" dirty="0"/>
              <a:t>    "</a:t>
            </a:r>
            <a:r>
              <a:rPr lang="fr-FR" sz="1200" b="1" dirty="0" err="1"/>
              <a:t>name</a:t>
            </a:r>
            <a:r>
              <a:rPr lang="fr-FR" sz="1200" b="1" dirty="0"/>
              <a:t>": "School0",</a:t>
            </a:r>
          </a:p>
          <a:p>
            <a:r>
              <a:rPr lang="fr-FR" sz="1200" b="1" dirty="0">
                <a:solidFill>
                  <a:schemeClr val="accent5">
                    <a:lumMod val="75000"/>
                  </a:schemeClr>
                </a:solidFill>
              </a:rPr>
              <a:t>    "</a:t>
            </a:r>
            <a:r>
              <a:rPr lang="fr-FR" sz="1200" b="1" dirty="0" err="1">
                <a:solidFill>
                  <a:schemeClr val="accent5">
                    <a:lumMod val="75000"/>
                  </a:schemeClr>
                </a:solidFill>
              </a:rPr>
              <a:t>director</a:t>
            </a:r>
            <a:r>
              <a:rPr lang="fr-FR" sz="1200" b="1" dirty="0">
                <a:solidFill>
                  <a:schemeClr val="accent5">
                    <a:lumMod val="75000"/>
                  </a:schemeClr>
                </a:solidFill>
              </a:rPr>
              <a:t>": {</a:t>
            </a:r>
          </a:p>
          <a:p>
            <a:r>
              <a:rPr lang="fr-FR" sz="1200" b="1" dirty="0">
                <a:solidFill>
                  <a:schemeClr val="accent5">
                    <a:lumMod val="75000"/>
                  </a:schemeClr>
                </a:solidFill>
              </a:rPr>
              <a:t>      "id": 1,</a:t>
            </a:r>
          </a:p>
          <a:p>
            <a:r>
              <a:rPr lang="fr-FR" sz="1200" b="1" dirty="0">
                <a:solidFill>
                  <a:schemeClr val="accent5">
                    <a:lumMod val="75000"/>
                  </a:schemeClr>
                </a:solidFill>
              </a:rPr>
              <a:t>      "</a:t>
            </a:r>
            <a:r>
              <a:rPr lang="fr-FR" sz="1200" b="1" dirty="0" err="1">
                <a:solidFill>
                  <a:schemeClr val="accent5">
                    <a:lumMod val="75000"/>
                  </a:schemeClr>
                </a:solidFill>
              </a:rPr>
              <a:t>name</a:t>
            </a:r>
            <a:r>
              <a:rPr lang="fr-FR" sz="1200" b="1" dirty="0">
                <a:solidFill>
                  <a:schemeClr val="accent5">
                    <a:lumMod val="75000"/>
                  </a:schemeClr>
                </a:solidFill>
              </a:rPr>
              <a:t>": "Director0"</a:t>
            </a:r>
          </a:p>
          <a:p>
            <a:r>
              <a:rPr lang="fr-FR" sz="1200" b="1" dirty="0">
                <a:solidFill>
                  <a:schemeClr val="accent5">
                    <a:lumMod val="75000"/>
                  </a:schemeClr>
                </a:solidFill>
              </a:rPr>
              <a:t>    },</a:t>
            </a:r>
          </a:p>
          <a:p>
            <a:r>
              <a:rPr lang="fr-FR" sz="1200" b="1" dirty="0">
                <a:solidFill>
                  <a:srgbClr val="0070C0"/>
                </a:solidFill>
              </a:rPr>
              <a:t>    </a:t>
            </a:r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fr-FR" sz="1200" b="1" dirty="0" err="1">
                <a:solidFill>
                  <a:schemeClr val="accent6">
                    <a:lumMod val="75000"/>
                  </a:schemeClr>
                </a:solidFill>
              </a:rPr>
              <a:t>students</a:t>
            </a:r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": [</a:t>
            </a:r>
          </a:p>
          <a:p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      {</a:t>
            </a:r>
          </a:p>
          <a:p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        "id": 1,</a:t>
            </a:r>
          </a:p>
          <a:p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        "</a:t>
            </a:r>
            <a:r>
              <a:rPr lang="fr-FR" sz="1200" b="1" dirty="0" err="1">
                <a:solidFill>
                  <a:schemeClr val="accent6">
                    <a:lumMod val="75000"/>
                  </a:schemeClr>
                </a:solidFill>
              </a:rPr>
              <a:t>name</a:t>
            </a:r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": "StudentB0"</a:t>
            </a:r>
          </a:p>
          <a:p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      },</a:t>
            </a:r>
          </a:p>
          <a:p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      {</a:t>
            </a:r>
          </a:p>
          <a:p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        "id": 2,</a:t>
            </a:r>
          </a:p>
          <a:p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        "</a:t>
            </a:r>
            <a:r>
              <a:rPr lang="fr-FR" sz="1200" b="1" dirty="0" err="1">
                <a:solidFill>
                  <a:schemeClr val="accent6">
                    <a:lumMod val="75000"/>
                  </a:schemeClr>
                </a:solidFill>
              </a:rPr>
              <a:t>name</a:t>
            </a:r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": "StudentA0"</a:t>
            </a:r>
          </a:p>
          <a:p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      }</a:t>
            </a:r>
          </a:p>
          <a:p>
            <a:r>
              <a:rPr lang="fr-FR" sz="1200" b="1" dirty="0">
                <a:solidFill>
                  <a:schemeClr val="accent6">
                    <a:lumMod val="75000"/>
                  </a:schemeClr>
                </a:solidFill>
              </a:rPr>
              <a:t>    ]</a:t>
            </a:r>
            <a:r>
              <a:rPr lang="fr-FR" sz="1200" b="1" dirty="0">
                <a:solidFill>
                  <a:srgbClr val="0070C0"/>
                </a:solidFill>
              </a:rPr>
              <a:t>,</a:t>
            </a:r>
          </a:p>
          <a:p>
            <a:r>
              <a:rPr lang="fr-FR" sz="1200" b="1" dirty="0">
                <a:solidFill>
                  <a:srgbClr val="0070C0"/>
                </a:solidFill>
              </a:rPr>
              <a:t>    </a:t>
            </a:r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fr-FR" sz="1200" b="1" dirty="0" err="1">
                <a:solidFill>
                  <a:schemeClr val="accent2">
                    <a:lumMod val="75000"/>
                  </a:schemeClr>
                </a:solidFill>
              </a:rPr>
              <a:t>teachers</a:t>
            </a:r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": [</a:t>
            </a:r>
          </a:p>
          <a:p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      {</a:t>
            </a:r>
          </a:p>
          <a:p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        "id": 1,</a:t>
            </a:r>
          </a:p>
          <a:p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        "</a:t>
            </a:r>
            <a:r>
              <a:rPr lang="fr-FR" sz="1200" b="1" dirty="0" err="1">
                <a:solidFill>
                  <a:schemeClr val="accent2">
                    <a:lumMod val="75000"/>
                  </a:schemeClr>
                </a:solidFill>
              </a:rPr>
              <a:t>name</a:t>
            </a:r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": "TeacherA0"</a:t>
            </a:r>
          </a:p>
          <a:p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      },</a:t>
            </a:r>
          </a:p>
          <a:p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      {</a:t>
            </a:r>
          </a:p>
          <a:p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        "id": 2,</a:t>
            </a:r>
          </a:p>
          <a:p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        "</a:t>
            </a:r>
            <a:r>
              <a:rPr lang="fr-FR" sz="1200" b="1" dirty="0" err="1">
                <a:solidFill>
                  <a:schemeClr val="accent2">
                    <a:lumMod val="75000"/>
                  </a:schemeClr>
                </a:solidFill>
              </a:rPr>
              <a:t>name</a:t>
            </a:r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": "TeacherB0"</a:t>
            </a:r>
          </a:p>
          <a:p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      }</a:t>
            </a:r>
          </a:p>
          <a:p>
            <a:r>
              <a:rPr lang="fr-FR" sz="1200" b="1" dirty="0">
                <a:solidFill>
                  <a:schemeClr val="accent2">
                    <a:lumMod val="75000"/>
                  </a:schemeClr>
                </a:solidFill>
              </a:rPr>
              <a:t>    ]</a:t>
            </a:r>
          </a:p>
          <a:p>
            <a:r>
              <a:rPr lang="fr-FR" sz="1200" b="1" dirty="0"/>
              <a:t>  },</a:t>
            </a:r>
          </a:p>
        </p:txBody>
      </p:sp>
    </p:spTree>
    <p:extLst>
      <p:ext uri="{BB962C8B-B14F-4D97-AF65-F5344CB8AC3E}">
        <p14:creationId xmlns:p14="http://schemas.microsoft.com/office/powerpoint/2010/main" val="74129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One to One / Many to One</a:t>
            </a: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83C09A81-FC90-46D6-9AFC-309B369575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727" y="1651147"/>
            <a:ext cx="2899318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000" dirty="0">
                <a:solidFill>
                  <a:srgbClr val="080808"/>
                </a:solidFill>
                <a:latin typeface="Fira Code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@OneToOne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    @JoinColumn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director_id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 </a:t>
            </a: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highlight>
                  <a:srgbClr val="FFFF00"/>
                </a:highlight>
                <a:latin typeface="Fira Code"/>
              </a:rPr>
              <a:t>// optionnel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Director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FFFF00"/>
                </a:highlight>
                <a:latin typeface="Fira Code"/>
              </a:rPr>
              <a:t>director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9A075006-9B78-41F2-9AF3-9DCB3F5C33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5850" y="1923575"/>
            <a:ext cx="3278458" cy="11695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Director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    @GeneratedValue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(strategy=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GenerationType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IDENTITY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long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name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A150F3D6-AAFA-4815-9476-FEDE0A0A464A}"/>
              </a:ext>
            </a:extLst>
          </p:cNvPr>
          <p:cNvSpPr/>
          <p:nvPr/>
        </p:nvSpPr>
        <p:spPr>
          <a:xfrm>
            <a:off x="5000281" y="2123149"/>
            <a:ext cx="1204332" cy="8103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47D75BBC-E687-4ED4-B194-562C10AEFE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6776" y="5296005"/>
            <a:ext cx="5057775" cy="1409700"/>
          </a:xfrm>
          <a:prstGeom prst="rect">
            <a:avLst/>
          </a:prstGeom>
        </p:spPr>
      </p:pic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FE382B50-B123-4BD2-A78A-9F0B43F4F9C3}"/>
              </a:ext>
            </a:extLst>
          </p:cNvPr>
          <p:cNvSpPr/>
          <p:nvPr/>
        </p:nvSpPr>
        <p:spPr>
          <a:xfrm>
            <a:off x="5046151" y="3884559"/>
            <a:ext cx="1204332" cy="8103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Rectangle 6">
            <a:extLst>
              <a:ext uri="{FF2B5EF4-FFF2-40B4-BE49-F238E27FC236}">
                <a16:creationId xmlns:a16="http://schemas.microsoft.com/office/drawing/2014/main" id="{096BD1C7-4E3C-4189-A63C-7E40A49731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45850" y="3582167"/>
            <a:ext cx="3278458" cy="163121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Director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    @GeneratedValue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(strategy=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GenerationType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IDENTITY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long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name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@OneToMany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(mappedBy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Set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FFFF00"/>
                </a:highlight>
                <a:latin typeface="Fira Code"/>
              </a:rPr>
              <a:t>schools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23CA844F-887C-492E-A308-489D22846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9727" y="3679184"/>
            <a:ext cx="2899318" cy="147732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000" dirty="0">
                <a:solidFill>
                  <a:srgbClr val="080808"/>
                </a:solidFill>
                <a:latin typeface="Fira Code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@ManyToOne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@JoinColumn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director_id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 </a:t>
            </a: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highlight>
                  <a:srgbClr val="FFFF00"/>
                </a:highlight>
                <a:latin typeface="Fira Code"/>
              </a:rPr>
              <a:t>// optionnel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Director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FFFF00"/>
                </a:highlight>
                <a:latin typeface="Fira Code"/>
              </a:rPr>
              <a:t>director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A631FD33-459F-490E-AA7F-A9AA3F650B9F}"/>
              </a:ext>
            </a:extLst>
          </p:cNvPr>
          <p:cNvCxnSpPr/>
          <p:nvPr/>
        </p:nvCxnSpPr>
        <p:spPr>
          <a:xfrm flipV="1">
            <a:off x="521206" y="3466859"/>
            <a:ext cx="10961915" cy="43362"/>
          </a:xfrm>
          <a:prstGeom prst="line">
            <a:avLst/>
          </a:prstGeom>
          <a:ln w="2857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3C0B9410-E858-4776-8057-97B758F08B3E}"/>
              </a:ext>
            </a:extLst>
          </p:cNvPr>
          <p:cNvSpPr txBox="1"/>
          <p:nvPr/>
        </p:nvSpPr>
        <p:spPr>
          <a:xfrm>
            <a:off x="521205" y="1241529"/>
            <a:ext cx="109619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Si relation inverse, attention aux entités qui sortent des contrôleurs : boucles infinies !</a:t>
            </a:r>
          </a:p>
        </p:txBody>
      </p:sp>
    </p:spTree>
    <p:extLst>
      <p:ext uri="{BB962C8B-B14F-4D97-AF65-F5344CB8AC3E}">
        <p14:creationId xmlns:p14="http://schemas.microsoft.com/office/powerpoint/2010/main" val="3731012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3" grpId="0" animBg="1"/>
      <p:bldP spid="15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One to Many / Many to One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521207" y="1228267"/>
            <a:ext cx="109619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Si relation inverse, attention aux entités qui sortent des contrôleurs : boucles infinies !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Dans le cas d’une relation « 1 – n » ou « unidirectionnelle », il faut obligatoirement définir le mapping inverse</a:t>
            </a:r>
          </a:p>
        </p:txBody>
      </p:sp>
      <p:sp>
        <p:nvSpPr>
          <p:cNvPr id="9" name="Rectangle 5">
            <a:extLst>
              <a:ext uri="{FF2B5EF4-FFF2-40B4-BE49-F238E27FC236}">
                <a16:creationId xmlns:a16="http://schemas.microsoft.com/office/drawing/2014/main" id="{E308F610-468F-437A-A1CD-749C0AF98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00976" y="2730473"/>
            <a:ext cx="3241288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000" dirty="0">
                <a:solidFill>
                  <a:srgbClr val="080808"/>
                </a:solidFill>
                <a:latin typeface="Fira Code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0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000" dirty="0">
              <a:solidFill>
                <a:srgbClr val="080808"/>
              </a:solidFill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@OneToMany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(mappedBy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Set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Teacher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FFFF00"/>
                </a:highlight>
                <a:latin typeface="Fira Code"/>
              </a:rPr>
              <a:t>teachers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E6E15A96-D08B-419E-AEDD-FE6372D6B818}"/>
              </a:ext>
            </a:extLst>
          </p:cNvPr>
          <p:cNvSpPr/>
          <p:nvPr/>
        </p:nvSpPr>
        <p:spPr>
          <a:xfrm>
            <a:off x="5223305" y="3202475"/>
            <a:ext cx="1204332" cy="8103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A94E5416-A241-4C9E-A5F4-9B0D3B1DD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8678" y="2647471"/>
            <a:ext cx="3873190" cy="17851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Teacher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    @GeneratedValue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(strategy 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GenerationType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IDENTITY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long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name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@ManyToOne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@JoinColumn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school_id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 </a:t>
            </a: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highlight>
                  <a:srgbClr val="FFFF00"/>
                </a:highlight>
                <a:latin typeface="Fira Code"/>
              </a:rPr>
              <a:t>// optionnel</a:t>
            </a:r>
            <a:b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FFFF00"/>
                </a:highlight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5" name="Image 14">
            <a:extLst>
              <a:ext uri="{FF2B5EF4-FFF2-40B4-BE49-F238E27FC236}">
                <a16:creationId xmlns:a16="http://schemas.microsoft.com/office/drawing/2014/main" id="{CA22F15C-AD09-4C7C-B8A2-2690C49A3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182" y="5096451"/>
            <a:ext cx="4343400" cy="125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0471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Many to Many / n – n / bidirectionnelle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D936713-7C72-4E0C-BB1E-8D18AF15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6" y="1496697"/>
            <a:ext cx="5382323" cy="344709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@Table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"SCHOOL"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indexes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director_school_index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columnList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director_id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000" dirty="0">
              <a:solidFill>
                <a:srgbClr val="080808"/>
              </a:solidFill>
              <a:latin typeface="Fira Code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000" dirty="0">
                <a:solidFill>
                  <a:srgbClr val="080808"/>
                </a:solidFill>
                <a:latin typeface="Fira Code"/>
              </a:rPr>
              <a:t>.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000" dirty="0">
              <a:solidFill>
                <a:srgbClr val="080808"/>
              </a:solidFill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@ManyToMany  </a:t>
            </a:r>
            <a:r>
              <a:rPr lang="fr-FR" altLang="fr-FR" sz="1000" i="1" dirty="0">
                <a:solidFill>
                  <a:srgbClr val="8C8C8C"/>
                </a:solidFill>
                <a:highlight>
                  <a:srgbClr val="FFFF00"/>
                </a:highlight>
                <a:latin typeface="Fira Code"/>
              </a:rPr>
              <a:t>// </a:t>
            </a:r>
            <a:r>
              <a:rPr lang="fr-FR" altLang="fr-FR" sz="1000" i="1" dirty="0" err="1">
                <a:solidFill>
                  <a:srgbClr val="8C8C8C"/>
                </a:solidFill>
                <a:highlight>
                  <a:srgbClr val="FFFF00"/>
                </a:highlight>
                <a:latin typeface="Fira Code"/>
              </a:rPr>
              <a:t>OneToMany</a:t>
            </a:r>
            <a:r>
              <a:rPr lang="fr-FR" altLang="fr-FR" sz="1000" i="1" dirty="0">
                <a:solidFill>
                  <a:srgbClr val="8C8C8C"/>
                </a:solidFill>
                <a:highlight>
                  <a:srgbClr val="FFFF00"/>
                </a:highlight>
                <a:latin typeface="Fira Code"/>
              </a:rPr>
              <a:t> va fonctionner aussi ^^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@JoinTable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  </a:t>
            </a: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highlight>
                  <a:srgbClr val="FFFF00"/>
                </a:highlight>
                <a:latin typeface="Fira Code"/>
              </a:rPr>
              <a:t>// optionnel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name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"SCHOOL_STUDENT"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joinColumns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@JoinColumn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"SCHOOL_ID"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referencedColumnName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"ID"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inverseJoinColumns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@JoinColumn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"STUDENT_ID"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referencedColumnName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"ID"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indexes = 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school_school_student_index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columnList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school_id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student_school_student_index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columnList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student_id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}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Set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Student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highlight>
                  <a:srgbClr val="FFFF00"/>
                </a:highlight>
                <a:latin typeface="Fira Code"/>
              </a:rPr>
              <a:t>students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lang="fr-FR" altLang="fr-FR" sz="1000" dirty="0">
              <a:solidFill>
                <a:srgbClr val="080808"/>
              </a:solidFill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4CA194B-ECE1-47C7-BA40-244DEFF83C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1345" y="2552000"/>
            <a:ext cx="3872759" cy="11695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Student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@Id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    @GeneratedValue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(strategy=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GenerationType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IDENTITY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long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name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BFCF5832-8731-4C0C-8399-A1C15114D0A0}"/>
              </a:ext>
            </a:extLst>
          </p:cNvPr>
          <p:cNvSpPr/>
          <p:nvPr/>
        </p:nvSpPr>
        <p:spPr>
          <a:xfrm>
            <a:off x="6130271" y="2856800"/>
            <a:ext cx="1204332" cy="81032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9A7A86FB-40EF-418D-A5ED-FC708E0392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114" y="5066609"/>
            <a:ext cx="7658100" cy="1314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832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Jointure Eager ou Lazy ?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521207" y="1243786"/>
            <a:ext cx="1096191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One To One / </a:t>
            </a:r>
            <a:r>
              <a:rPr lang="fr-FR" dirty="0" err="1"/>
              <a:t>Many</a:t>
            </a:r>
            <a:r>
              <a:rPr lang="fr-FR" dirty="0"/>
              <a:t> To One  </a:t>
            </a:r>
            <a:r>
              <a:rPr lang="fr-FR" dirty="0">
                <a:sym typeface="Wingdings" panose="05000000000000000000" pitchFamily="2" charset="2"/>
              </a:rPr>
              <a:t> </a:t>
            </a:r>
            <a:r>
              <a:rPr lang="fr-FR" dirty="0" err="1"/>
              <a:t>Eager</a:t>
            </a:r>
            <a:r>
              <a:rPr lang="fr-FR" dirty="0"/>
              <a:t> par défaut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Les autres </a:t>
            </a:r>
            <a:r>
              <a:rPr lang="fr-FR" dirty="0">
                <a:sym typeface="Wingdings" panose="05000000000000000000" pitchFamily="2" charset="2"/>
              </a:rPr>
              <a:t></a:t>
            </a:r>
            <a:r>
              <a:rPr lang="fr-FR" dirty="0"/>
              <a:t> </a:t>
            </a:r>
            <a:r>
              <a:rPr lang="fr-FR" dirty="0" err="1"/>
              <a:t>Lazy</a:t>
            </a:r>
            <a:r>
              <a:rPr lang="fr-FR" dirty="0"/>
              <a:t> par défaut, on ne touche pas !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Une jointure doit être déclarative avec un </a:t>
            </a:r>
            <a:r>
              <a:rPr lang="fr-FR" dirty="0" err="1"/>
              <a:t>fetch</a:t>
            </a:r>
            <a:r>
              <a:rPr lang="fr-FR" dirty="0"/>
              <a:t> ou une requête directe !</a:t>
            </a:r>
            <a:br>
              <a:rPr lang="fr-FR" dirty="0"/>
            </a:br>
            <a:r>
              <a:rPr lang="fr-FR" dirty="0"/>
              <a:t>En effet, figer les requêtes « </a:t>
            </a:r>
            <a:r>
              <a:rPr lang="fr-FR" dirty="0" err="1"/>
              <a:t>programmatiquement</a:t>
            </a:r>
            <a:r>
              <a:rPr lang="fr-FR" dirty="0"/>
              <a:t> » avec les annotations, empêchera toute évolution…</a:t>
            </a:r>
            <a:br>
              <a:rPr lang="fr-FR" dirty="0"/>
            </a:br>
            <a:r>
              <a:rPr lang="fr-FR" dirty="0"/>
              <a:t>De plus, cela pourrait conduire à des problèmes de performances car des données inutiles seraient systématiquement récupérées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Conseil ?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endParaRPr lang="fr-FR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93C32C6-9C38-4791-A753-B4DA8822BD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92" y="4173707"/>
            <a:ext cx="3018263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@OneToOne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(fetch 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FetchType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LAZY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Director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director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A16727A-6C9F-4BB4-A0D4-E7AE87AB7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9492" y="4832405"/>
            <a:ext cx="3018263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@ManyToOne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(fetch =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FetchType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0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LAZY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79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6" y="448056"/>
            <a:ext cx="9522325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Jointures par défaut pour récupérer l’arbre de données 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521207" y="1243786"/>
            <a:ext cx="109619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Si je ne fais rien ? (conseil : écrivez la méthode !)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endParaRPr lang="fr-FR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F9B6EE4-6C3D-44C8-94D3-453C3924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234" y="1749388"/>
            <a:ext cx="5248507" cy="70788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interface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JpaSchoolRepository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extends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JpaRepository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0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List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findAll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();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53417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6" y="448056"/>
            <a:ext cx="8801387" cy="640080"/>
          </a:xfrm>
        </p:spPr>
        <p:txBody>
          <a:bodyPr rtlCol="0">
            <a:normAutofit fontScale="90000"/>
          </a:bodyPr>
          <a:lstStyle/>
          <a:p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N+1 ?? Exemple avec une sortie de Controller &amp; Proxy Entité </a:t>
            </a:r>
            <a:endParaRPr lang="fr-FR" sz="1200" noProof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03DA2E8-7087-4648-A0E3-49196BB601E5}"/>
              </a:ext>
            </a:extLst>
          </p:cNvPr>
          <p:cNvSpPr txBox="1"/>
          <p:nvPr/>
        </p:nvSpPr>
        <p:spPr>
          <a:xfrm>
            <a:off x="8892768" y="2051854"/>
            <a:ext cx="323366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70C0"/>
                </a:solidFill>
              </a:rPr>
              <a:t> </a:t>
            </a:r>
            <a:r>
              <a:rPr lang="fr-FR" sz="1600" b="1" dirty="0"/>
              <a:t>{</a:t>
            </a:r>
          </a:p>
          <a:p>
            <a:r>
              <a:rPr lang="fr-FR" sz="1600" b="1" dirty="0"/>
              <a:t>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"id"</a:t>
            </a:r>
            <a:r>
              <a:rPr lang="fr-FR" sz="1600" b="1" dirty="0"/>
              <a:t>: 1,</a:t>
            </a:r>
          </a:p>
          <a:p>
            <a:r>
              <a:rPr lang="fr-FR" sz="1600" b="1" dirty="0"/>
              <a:t>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"location"</a:t>
            </a:r>
            <a:r>
              <a:rPr lang="fr-FR" sz="1600" b="1" dirty="0"/>
              <a:t>: "Location0",</a:t>
            </a:r>
          </a:p>
          <a:p>
            <a:r>
              <a:rPr lang="fr-FR" sz="1600" b="1" dirty="0"/>
              <a:t>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  <a:r>
              <a:rPr lang="fr-FR" sz="1600" b="1" dirty="0" err="1">
                <a:solidFill>
                  <a:schemeClr val="accent5">
                    <a:lumMod val="75000"/>
                  </a:schemeClr>
                </a:solidFill>
              </a:rPr>
              <a:t>name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  <a:r>
              <a:rPr lang="fr-FR" sz="1600" b="1" dirty="0"/>
              <a:t>: "School0",</a:t>
            </a:r>
          </a:p>
          <a:p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   "</a:t>
            </a:r>
            <a:r>
              <a:rPr lang="fr-FR" sz="1600" b="1" dirty="0" err="1">
                <a:solidFill>
                  <a:schemeClr val="accent5">
                    <a:lumMod val="75000"/>
                  </a:schemeClr>
                </a:solidFill>
              </a:rPr>
              <a:t>director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": {</a:t>
            </a:r>
          </a:p>
          <a:p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         </a:t>
            </a:r>
            <a:endParaRPr lang="fr-FR" sz="1600" b="1" dirty="0">
              <a:solidFill>
                <a:schemeClr val="accent5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   },</a:t>
            </a:r>
          </a:p>
          <a:p>
            <a:r>
              <a:rPr lang="fr-FR" sz="1600" b="1" dirty="0">
                <a:solidFill>
                  <a:srgbClr val="0070C0"/>
                </a:solidFill>
              </a:rPr>
              <a:t>    </a:t>
            </a: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fr-FR" sz="1600" b="1" dirty="0" err="1">
                <a:solidFill>
                  <a:schemeClr val="accent6">
                    <a:lumMod val="75000"/>
                  </a:schemeClr>
                </a:solidFill>
              </a:rPr>
              <a:t>students</a:t>
            </a: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</a:rPr>
              <a:t>": [</a:t>
            </a:r>
          </a:p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</a:rPr>
              <a:t>      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endParaRPr lang="fr-FR" sz="16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</a:rPr>
              <a:t>    ]</a:t>
            </a:r>
            <a:r>
              <a:rPr lang="fr-FR" sz="1600" b="1" dirty="0">
                <a:solidFill>
                  <a:srgbClr val="0070C0"/>
                </a:solidFill>
              </a:rPr>
              <a:t>,</a:t>
            </a:r>
          </a:p>
          <a:p>
            <a:r>
              <a:rPr lang="fr-FR" sz="1600" b="1" dirty="0">
                <a:solidFill>
                  <a:srgbClr val="0070C0"/>
                </a:solidFill>
              </a:rPr>
              <a:t>    </a:t>
            </a:r>
            <a:r>
              <a:rPr lang="fr-FR" sz="1600" b="1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fr-FR" sz="1600" b="1" dirty="0" err="1">
                <a:solidFill>
                  <a:schemeClr val="accent2">
                    <a:lumMod val="75000"/>
                  </a:schemeClr>
                </a:solidFill>
              </a:rPr>
              <a:t>teachers</a:t>
            </a:r>
            <a:r>
              <a:rPr lang="fr-FR" sz="1600" b="1" dirty="0">
                <a:solidFill>
                  <a:schemeClr val="accent2">
                    <a:lumMod val="75000"/>
                  </a:schemeClr>
                </a:solidFill>
              </a:rPr>
              <a:t>": [</a:t>
            </a:r>
          </a:p>
          <a:p>
            <a:r>
              <a:rPr lang="fr-FR" sz="1600" b="1" dirty="0">
                <a:solidFill>
                  <a:schemeClr val="accent2">
                    <a:lumMod val="75000"/>
                  </a:schemeClr>
                </a:solidFill>
              </a:rPr>
              <a:t>          </a:t>
            </a:r>
          </a:p>
          <a:p>
            <a:r>
              <a:rPr lang="fr-FR" sz="1600" b="1" dirty="0">
                <a:solidFill>
                  <a:schemeClr val="accent2">
                    <a:lumMod val="75000"/>
                  </a:schemeClr>
                </a:solidFill>
              </a:rPr>
              <a:t>     ]</a:t>
            </a:r>
          </a:p>
          <a:p>
            <a:r>
              <a:rPr lang="fr-FR" sz="1600" b="1" dirty="0"/>
              <a:t>  },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F16F5A-D6FD-4119-A469-081C49FC50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3684" y="1513245"/>
            <a:ext cx="4822520" cy="46166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@Id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    @GeneratedValue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(strategy 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GenerationType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IDENTITY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Long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@Column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"location</a:t>
            </a:r>
            <a:b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location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@Column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length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Fira Code"/>
              </a:rPr>
              <a:t>100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@OneToOne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(fetch 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FetchType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LAZY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@JoinColumn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director_id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Director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director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@ManyToMany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(fetch 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FetchType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LAZY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Set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Student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students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@OneToMany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(mappedBy =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fetch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FetchType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LAZY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Set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Teacher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teachers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19B538B-FFF6-4FC8-8993-EBB956482F7A}"/>
              </a:ext>
            </a:extLst>
          </p:cNvPr>
          <p:cNvSpPr/>
          <p:nvPr/>
        </p:nvSpPr>
        <p:spPr>
          <a:xfrm>
            <a:off x="6096000" y="2542163"/>
            <a:ext cx="1141379" cy="280156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" rtlCol="0" anchor="ctr"/>
          <a:lstStyle/>
          <a:p>
            <a:pPr algn="ctr"/>
            <a:r>
              <a:rPr lang="fr-FR" dirty="0"/>
              <a:t>JACKSON</a:t>
            </a:r>
          </a:p>
          <a:p>
            <a:pPr algn="ctr"/>
            <a:r>
              <a:rPr lang="fr-FR" dirty="0"/>
              <a:t>SERIALISATION</a:t>
            </a:r>
          </a:p>
          <a:p>
            <a:pPr algn="ctr"/>
            <a:r>
              <a:rPr lang="fr-FR" dirty="0"/>
              <a:t>JSON</a:t>
            </a: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0AC291B5-34B4-4249-B9A0-C8D5E5E79762}"/>
              </a:ext>
            </a:extLst>
          </p:cNvPr>
          <p:cNvSpPr/>
          <p:nvPr/>
        </p:nvSpPr>
        <p:spPr>
          <a:xfrm>
            <a:off x="4697616" y="3487690"/>
            <a:ext cx="1141379" cy="9014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7FA09263-EFF6-4AB5-BBC2-CD7708341F99}"/>
              </a:ext>
            </a:extLst>
          </p:cNvPr>
          <p:cNvSpPr/>
          <p:nvPr/>
        </p:nvSpPr>
        <p:spPr>
          <a:xfrm>
            <a:off x="7494384" y="3487690"/>
            <a:ext cx="1141379" cy="9014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8A64CB3-F22B-4F1B-9B65-94FC55B304B2}"/>
              </a:ext>
            </a:extLst>
          </p:cNvPr>
          <p:cNvSpPr txBox="1"/>
          <p:nvPr/>
        </p:nvSpPr>
        <p:spPr>
          <a:xfrm>
            <a:off x="8892767" y="2051854"/>
            <a:ext cx="3233669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600" b="1" dirty="0">
                <a:solidFill>
                  <a:srgbClr val="0070C0"/>
                </a:solidFill>
              </a:rPr>
              <a:t> </a:t>
            </a:r>
            <a:r>
              <a:rPr lang="fr-FR" sz="1600" b="1" dirty="0"/>
              <a:t>{</a:t>
            </a:r>
          </a:p>
          <a:p>
            <a:r>
              <a:rPr lang="fr-FR" sz="1600" b="1" dirty="0"/>
              <a:t>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"id"</a:t>
            </a:r>
            <a:r>
              <a:rPr lang="fr-FR" sz="1600" b="1" dirty="0"/>
              <a:t>: 1,</a:t>
            </a:r>
          </a:p>
          <a:p>
            <a:r>
              <a:rPr lang="fr-FR" sz="1600" b="1" dirty="0"/>
              <a:t>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"location"</a:t>
            </a:r>
            <a:r>
              <a:rPr lang="fr-FR" sz="1600" b="1" dirty="0"/>
              <a:t>: "Location0",</a:t>
            </a:r>
          </a:p>
          <a:p>
            <a:r>
              <a:rPr lang="fr-FR" sz="1600" b="1" dirty="0"/>
              <a:t>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  <a:r>
              <a:rPr lang="fr-FR" sz="1600" b="1" dirty="0" err="1">
                <a:solidFill>
                  <a:schemeClr val="accent5">
                    <a:lumMod val="75000"/>
                  </a:schemeClr>
                </a:solidFill>
              </a:rPr>
              <a:t>name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</a:t>
            </a:r>
            <a:r>
              <a:rPr lang="fr-FR" sz="1600" b="1" dirty="0"/>
              <a:t>: "School0",</a:t>
            </a:r>
          </a:p>
          <a:p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   "</a:t>
            </a:r>
            <a:r>
              <a:rPr lang="fr-FR" sz="1600" b="1" dirty="0" err="1">
                <a:solidFill>
                  <a:schemeClr val="accent5">
                    <a:lumMod val="75000"/>
                  </a:schemeClr>
                </a:solidFill>
              </a:rPr>
              <a:t>director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": {</a:t>
            </a:r>
          </a:p>
          <a:p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      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 SELECT</a:t>
            </a:r>
            <a:endParaRPr lang="fr-FR" sz="1600" b="1" dirty="0">
              <a:solidFill>
                <a:schemeClr val="accent5">
                  <a:lumMod val="75000"/>
                </a:schemeClr>
              </a:solidFill>
              <a:highlight>
                <a:srgbClr val="FFFF00"/>
              </a:highlight>
            </a:endParaRPr>
          </a:p>
          <a:p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   },</a:t>
            </a:r>
          </a:p>
          <a:p>
            <a:r>
              <a:rPr lang="fr-FR" sz="1600" b="1" dirty="0">
                <a:solidFill>
                  <a:srgbClr val="0070C0"/>
                </a:solidFill>
              </a:rPr>
              <a:t>    </a:t>
            </a: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</a:rPr>
              <a:t>"</a:t>
            </a:r>
            <a:r>
              <a:rPr lang="fr-FR" sz="1600" b="1" dirty="0" err="1">
                <a:solidFill>
                  <a:schemeClr val="accent6">
                    <a:lumMod val="75000"/>
                  </a:schemeClr>
                </a:solidFill>
              </a:rPr>
              <a:t>students</a:t>
            </a:r>
            <a:r>
              <a:rPr lang="fr-FR" sz="1600" b="1" dirty="0">
                <a:solidFill>
                  <a:schemeClr val="accent6">
                    <a:lumMod val="75000"/>
                  </a:schemeClr>
                </a:solidFill>
              </a:rPr>
              <a:t>": [</a:t>
            </a:r>
          </a:p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</a:rPr>
              <a:t>      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 SELECT</a:t>
            </a:r>
            <a:endParaRPr lang="fr-FR" sz="1600" b="1" dirty="0">
              <a:solidFill>
                <a:schemeClr val="accent6">
                  <a:lumMod val="75000"/>
                </a:schemeClr>
              </a:solidFill>
            </a:endParaRPr>
          </a:p>
          <a:p>
            <a:r>
              <a:rPr lang="fr-FR" sz="1600" b="1" dirty="0">
                <a:solidFill>
                  <a:schemeClr val="accent6">
                    <a:lumMod val="75000"/>
                  </a:schemeClr>
                </a:solidFill>
              </a:rPr>
              <a:t>    ]</a:t>
            </a:r>
            <a:r>
              <a:rPr lang="fr-FR" sz="1600" b="1" dirty="0">
                <a:solidFill>
                  <a:srgbClr val="0070C0"/>
                </a:solidFill>
              </a:rPr>
              <a:t>,</a:t>
            </a:r>
          </a:p>
          <a:p>
            <a:r>
              <a:rPr lang="fr-FR" sz="1600" b="1" dirty="0">
                <a:solidFill>
                  <a:srgbClr val="0070C0"/>
                </a:solidFill>
              </a:rPr>
              <a:t>    </a:t>
            </a:r>
            <a:r>
              <a:rPr lang="fr-FR" sz="1600" b="1" dirty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fr-FR" sz="1600" b="1" dirty="0" err="1">
                <a:solidFill>
                  <a:schemeClr val="accent2">
                    <a:lumMod val="75000"/>
                  </a:schemeClr>
                </a:solidFill>
              </a:rPr>
              <a:t>teachers</a:t>
            </a:r>
            <a:r>
              <a:rPr lang="fr-FR" sz="1600" b="1" dirty="0">
                <a:solidFill>
                  <a:schemeClr val="accent2">
                    <a:lumMod val="75000"/>
                  </a:schemeClr>
                </a:solidFill>
              </a:rPr>
              <a:t>": [</a:t>
            </a:r>
          </a:p>
          <a:p>
            <a:r>
              <a:rPr lang="fr-FR" sz="1600" b="1" dirty="0">
                <a:solidFill>
                  <a:schemeClr val="accent2">
                    <a:lumMod val="75000"/>
                  </a:schemeClr>
                </a:solidFill>
              </a:rPr>
              <a:t>         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</a:rPr>
              <a:t> </a:t>
            </a:r>
            <a:r>
              <a:rPr lang="fr-FR" sz="1600" b="1" dirty="0">
                <a:solidFill>
                  <a:schemeClr val="accent5">
                    <a:lumMod val="75000"/>
                  </a:schemeClr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 SELECT</a:t>
            </a:r>
            <a:endParaRPr lang="fr-FR" sz="1600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fr-FR" sz="1600" b="1" dirty="0">
                <a:solidFill>
                  <a:schemeClr val="accent2">
                    <a:lumMod val="75000"/>
                  </a:schemeClr>
                </a:solidFill>
              </a:rPr>
              <a:t>     ]</a:t>
            </a:r>
          </a:p>
          <a:p>
            <a:r>
              <a:rPr lang="fr-FR" sz="1600" b="1" dirty="0"/>
              <a:t>  },</a:t>
            </a: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F290CEDE-4A3F-4D89-BF04-E1A0B0F42C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5695" y="3762502"/>
            <a:ext cx="1258544" cy="8613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50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" grpId="0" animBg="1"/>
      <p:bldP spid="3" grpId="0" animBg="1"/>
      <p:bldP spid="6" grpId="0" animBg="1"/>
      <p:bldP spid="7" grpId="0" animBg="1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6" y="448056"/>
            <a:ext cx="9522325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N+1 Quand ?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521207" y="1243786"/>
            <a:ext cx="109619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Commun à tous les ORM, lié au fonctionnement de la base de données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u="sng" dirty="0"/>
              <a:t>Conditions : 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dirty="0"/>
              <a:t>Par défaut la session ouverte par l’</a:t>
            </a:r>
            <a:r>
              <a:rPr lang="fr-FR" dirty="0" err="1"/>
              <a:t>Entity</a:t>
            </a:r>
            <a:r>
              <a:rPr lang="fr-FR" dirty="0"/>
              <a:t> Manager injectée automatiquement par Spring reste ouverte jusqu’au « Controller » !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dirty="0"/>
              <a:t>Quand une relation est en « </a:t>
            </a:r>
            <a:r>
              <a:rPr lang="fr-FR" dirty="0" err="1"/>
              <a:t>Lazy</a:t>
            </a:r>
            <a:r>
              <a:rPr lang="fr-FR" dirty="0"/>
              <a:t> », elle ne va se charger qu’à la demande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fr-FR" dirty="0"/>
              <a:t>L’entité est retournée par le Controller </a:t>
            </a:r>
            <a:r>
              <a:rPr lang="fr-FR" dirty="0">
                <a:sym typeface="Wingdings" panose="05000000000000000000" pitchFamily="2" charset="2"/>
              </a:rPr>
              <a:t> (</a:t>
            </a:r>
            <a:r>
              <a:rPr lang="fr-FR" dirty="0">
                <a:solidFill>
                  <a:schemeClr val="accent1">
                    <a:lumMod val="75000"/>
                  </a:schemeClr>
                </a:solidFill>
                <a:sym typeface="Wingdings" panose="05000000000000000000" pitchFamily="2" charset="2"/>
              </a:rPr>
              <a:t>#MonModeleDeDonnéesEstExposéeALExterieur</a:t>
            </a:r>
            <a:r>
              <a:rPr lang="fr-FR" dirty="0">
                <a:sym typeface="Wingdings" panose="05000000000000000000" pitchFamily="2" charset="2"/>
              </a:rPr>
              <a:t>)</a:t>
            </a:r>
            <a:br>
              <a:rPr lang="fr-FR" dirty="0">
                <a:sym typeface="Wingdings" panose="05000000000000000000" pitchFamily="2" charset="2"/>
              </a:rPr>
            </a:br>
            <a:r>
              <a:rPr lang="fr-FR" dirty="0">
                <a:sym typeface="Wingdings" panose="05000000000000000000" pitchFamily="2" charset="2"/>
              </a:rPr>
              <a:t>Ou un mapping vers une ressource est fait dans le service </a:t>
            </a: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B9BD4C03-DDC7-4CB1-AE7B-B14AF1E72A9B}"/>
              </a:ext>
            </a:extLst>
          </p:cNvPr>
          <p:cNvSpPr/>
          <p:nvPr/>
        </p:nvSpPr>
        <p:spPr>
          <a:xfrm>
            <a:off x="9255091" y="3859888"/>
            <a:ext cx="2632954" cy="1754326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 err="1"/>
              <a:t>JpaRepository</a:t>
            </a:r>
            <a:endParaRPr lang="fr-FR" dirty="0"/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7B8B968B-3FBE-46FF-B112-B64F68ED373A}"/>
              </a:ext>
            </a:extLst>
          </p:cNvPr>
          <p:cNvSpPr/>
          <p:nvPr/>
        </p:nvSpPr>
        <p:spPr>
          <a:xfrm>
            <a:off x="5763182" y="3859888"/>
            <a:ext cx="2632954" cy="175432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Service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2A032431-0318-499B-92FF-56EA5B131135}"/>
              </a:ext>
            </a:extLst>
          </p:cNvPr>
          <p:cNvSpPr/>
          <p:nvPr/>
        </p:nvSpPr>
        <p:spPr>
          <a:xfrm>
            <a:off x="2148964" y="3859888"/>
            <a:ext cx="2632954" cy="1754326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dirty="0"/>
              <a:t>Controller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269E0B62-4C74-4BFD-B204-D720190E48D8}"/>
              </a:ext>
            </a:extLst>
          </p:cNvPr>
          <p:cNvCxnSpPr>
            <a:cxnSpLocks/>
          </p:cNvCxnSpPr>
          <p:nvPr/>
        </p:nvCxnSpPr>
        <p:spPr>
          <a:xfrm>
            <a:off x="4487694" y="4396902"/>
            <a:ext cx="1679639" cy="0"/>
          </a:xfrm>
          <a:prstGeom prst="straightConnector1">
            <a:avLst/>
          </a:prstGeom>
          <a:ln w="698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avec flèche 11">
            <a:extLst>
              <a:ext uri="{FF2B5EF4-FFF2-40B4-BE49-F238E27FC236}">
                <a16:creationId xmlns:a16="http://schemas.microsoft.com/office/drawing/2014/main" id="{4F773FF6-63CF-4194-AFAD-4B09D3034FC8}"/>
              </a:ext>
            </a:extLst>
          </p:cNvPr>
          <p:cNvCxnSpPr>
            <a:cxnSpLocks/>
          </p:cNvCxnSpPr>
          <p:nvPr/>
        </p:nvCxnSpPr>
        <p:spPr>
          <a:xfrm>
            <a:off x="7983166" y="4374204"/>
            <a:ext cx="1725038" cy="0"/>
          </a:xfrm>
          <a:prstGeom prst="straightConnector1">
            <a:avLst/>
          </a:prstGeom>
          <a:ln w="698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9447E52F-6FF3-4816-8BC3-EE7820EFFE05}"/>
              </a:ext>
            </a:extLst>
          </p:cNvPr>
          <p:cNvCxnSpPr>
            <a:cxnSpLocks/>
          </p:cNvCxnSpPr>
          <p:nvPr/>
        </p:nvCxnSpPr>
        <p:spPr>
          <a:xfrm>
            <a:off x="7931285" y="5194570"/>
            <a:ext cx="1708818" cy="0"/>
          </a:xfrm>
          <a:prstGeom prst="straightConnector1">
            <a:avLst/>
          </a:prstGeom>
          <a:ln w="69850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A219240D-C0AF-4886-AF43-93C199347981}"/>
              </a:ext>
            </a:extLst>
          </p:cNvPr>
          <p:cNvCxnSpPr>
            <a:cxnSpLocks/>
          </p:cNvCxnSpPr>
          <p:nvPr/>
        </p:nvCxnSpPr>
        <p:spPr>
          <a:xfrm flipV="1">
            <a:off x="4429328" y="5194570"/>
            <a:ext cx="1738005" cy="10122"/>
          </a:xfrm>
          <a:prstGeom prst="straightConnector1">
            <a:avLst/>
          </a:prstGeom>
          <a:ln w="69850">
            <a:solidFill>
              <a:schemeClr val="accent2">
                <a:lumMod val="75000"/>
              </a:schemeClr>
            </a:solidFill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" name="Explosion : 8 points 16">
            <a:extLst>
              <a:ext uri="{FF2B5EF4-FFF2-40B4-BE49-F238E27FC236}">
                <a16:creationId xmlns:a16="http://schemas.microsoft.com/office/drawing/2014/main" id="{02B7F8DD-CA7D-4DB0-850E-1759277CF0DE}"/>
              </a:ext>
            </a:extLst>
          </p:cNvPr>
          <p:cNvSpPr/>
          <p:nvPr/>
        </p:nvSpPr>
        <p:spPr>
          <a:xfrm>
            <a:off x="6732502" y="4953318"/>
            <a:ext cx="708151" cy="571904"/>
          </a:xfrm>
          <a:prstGeom prst="irregularSeal1">
            <a:avLst/>
          </a:prstGeom>
          <a:gradFill flip="none" rotWithShape="1">
            <a:gsLst>
              <a:gs pos="0">
                <a:srgbClr val="FF0000"/>
              </a:gs>
              <a:gs pos="83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8141096-026C-4E24-B8FC-7D3993DCAED5}"/>
              </a:ext>
            </a:extLst>
          </p:cNvPr>
          <p:cNvSpPr txBox="1"/>
          <p:nvPr/>
        </p:nvSpPr>
        <p:spPr>
          <a:xfrm>
            <a:off x="404269" y="4766234"/>
            <a:ext cx="14679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 err="1"/>
              <a:t>Serialisation</a:t>
            </a:r>
            <a:endParaRPr lang="fr-FR" dirty="0"/>
          </a:p>
          <a:p>
            <a:pPr algn="ctr"/>
            <a:r>
              <a:rPr lang="fr-FR" dirty="0"/>
              <a:t>JSON</a:t>
            </a:r>
          </a:p>
        </p:txBody>
      </p:sp>
      <p:sp>
        <p:nvSpPr>
          <p:cNvPr id="19" name="Explosion : 8 points 18">
            <a:extLst>
              <a:ext uri="{FF2B5EF4-FFF2-40B4-BE49-F238E27FC236}">
                <a16:creationId xmlns:a16="http://schemas.microsoft.com/office/drawing/2014/main" id="{CDE2F490-FE4A-4FFB-A873-A98422144F2C}"/>
              </a:ext>
            </a:extLst>
          </p:cNvPr>
          <p:cNvSpPr/>
          <p:nvPr/>
        </p:nvSpPr>
        <p:spPr>
          <a:xfrm>
            <a:off x="1936165" y="5016141"/>
            <a:ext cx="678448" cy="492868"/>
          </a:xfrm>
          <a:prstGeom prst="irregularSeal1">
            <a:avLst/>
          </a:prstGeom>
          <a:gradFill flip="none" rotWithShape="1">
            <a:gsLst>
              <a:gs pos="0">
                <a:srgbClr val="FF0000"/>
              </a:gs>
              <a:gs pos="83000">
                <a:schemeClr val="accent2">
                  <a:lumMod val="97000"/>
                  <a:lumOff val="3000"/>
                </a:schemeClr>
              </a:gs>
              <a:gs pos="100000">
                <a:schemeClr val="accent2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9EC412E-3BAC-4EF7-A36B-F3121CD2C045}"/>
              </a:ext>
            </a:extLst>
          </p:cNvPr>
          <p:cNvSpPr txBox="1"/>
          <p:nvPr/>
        </p:nvSpPr>
        <p:spPr>
          <a:xfrm>
            <a:off x="404269" y="4189538"/>
            <a:ext cx="14679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REST</a:t>
            </a:r>
          </a:p>
        </p:txBody>
      </p: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E2845B10-0E2D-4A63-9B92-F4AF59D18C72}"/>
              </a:ext>
            </a:extLst>
          </p:cNvPr>
          <p:cNvCxnSpPr>
            <a:cxnSpLocks/>
          </p:cNvCxnSpPr>
          <p:nvPr/>
        </p:nvCxnSpPr>
        <p:spPr>
          <a:xfrm>
            <a:off x="1470114" y="4396902"/>
            <a:ext cx="958597" cy="0"/>
          </a:xfrm>
          <a:prstGeom prst="straightConnector1">
            <a:avLst/>
          </a:prstGeom>
          <a:ln w="6985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6C2F792C-716B-46C4-9C47-7032A8475F1D}"/>
              </a:ext>
            </a:extLst>
          </p:cNvPr>
          <p:cNvCxnSpPr>
            <a:cxnSpLocks/>
          </p:cNvCxnSpPr>
          <p:nvPr/>
        </p:nvCxnSpPr>
        <p:spPr>
          <a:xfrm>
            <a:off x="1839910" y="4953318"/>
            <a:ext cx="588801" cy="0"/>
          </a:xfrm>
          <a:prstGeom prst="straightConnector1">
            <a:avLst/>
          </a:prstGeom>
          <a:ln w="69850">
            <a:headEnd type="triangle"/>
            <a:tailEnd type="non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3808B017-E84F-4B9B-9D8D-3A90D7A64C36}"/>
              </a:ext>
            </a:extLst>
          </p:cNvPr>
          <p:cNvCxnSpPr>
            <a:cxnSpLocks/>
            <a:endCxn id="31" idx="3"/>
          </p:cNvCxnSpPr>
          <p:nvPr/>
        </p:nvCxnSpPr>
        <p:spPr>
          <a:xfrm flipH="1">
            <a:off x="5441004" y="5552041"/>
            <a:ext cx="1407598" cy="97653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314234FD-EFE4-4FA1-9279-E3B419B55BB7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2347935" y="5517151"/>
            <a:ext cx="2269784" cy="1011420"/>
          </a:xfrm>
          <a:prstGeom prst="straightConnector1">
            <a:avLst/>
          </a:prstGeom>
          <a:ln w="222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ZoneTexte 30">
            <a:extLst>
              <a:ext uri="{FF2B5EF4-FFF2-40B4-BE49-F238E27FC236}">
                <a16:creationId xmlns:a16="http://schemas.microsoft.com/office/drawing/2014/main" id="{D61B7011-D4DF-4F0D-8D1C-7E0073E45A83}"/>
              </a:ext>
            </a:extLst>
          </p:cNvPr>
          <p:cNvSpPr txBox="1"/>
          <p:nvPr/>
        </p:nvSpPr>
        <p:spPr>
          <a:xfrm>
            <a:off x="4617719" y="6299964"/>
            <a:ext cx="823285" cy="457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400" b="1" dirty="0">
                <a:solidFill>
                  <a:srgbClr val="FF0000"/>
                </a:solidFill>
              </a:rPr>
              <a:t>N+1</a:t>
            </a:r>
          </a:p>
        </p:txBody>
      </p:sp>
    </p:spTree>
    <p:extLst>
      <p:ext uri="{BB962C8B-B14F-4D97-AF65-F5344CB8AC3E}">
        <p14:creationId xmlns:p14="http://schemas.microsoft.com/office/powerpoint/2010/main" val="1113471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17" grpId="0" animBg="1"/>
      <p:bldP spid="18" grpId="0"/>
      <p:bldP spid="19" grpId="0" animBg="1"/>
      <p:bldP spid="26" grpId="0"/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Entity Manager et sa portée / transaction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E861D95-CFD3-450C-9442-EAE4FF4FC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42" y="1549164"/>
            <a:ext cx="3287885" cy="38371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spring.jpa.open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-in-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view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=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false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rgbClr val="FF0000"/>
              </a:solidFill>
              <a:effectLst/>
              <a:latin typeface="Fira Code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C85E2316-B371-4BF0-89E9-C3B55C3A0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27637" y="2443923"/>
            <a:ext cx="6356448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sz="1400" dirty="0">
                <a:solidFill>
                  <a:schemeClr val="bg2">
                    <a:lumMod val="50000"/>
                  </a:schemeClr>
                </a:solidFill>
                <a:latin typeface="Fira Code"/>
              </a:rPr>
              <a:t>// </a:t>
            </a:r>
            <a:r>
              <a:rPr lang="fr-FR" altLang="fr-FR" sz="1400" dirty="0" err="1">
                <a:solidFill>
                  <a:schemeClr val="bg2">
                    <a:lumMod val="50000"/>
                  </a:schemeClr>
                </a:solidFill>
                <a:latin typeface="Fira Code"/>
              </a:rPr>
              <a:t>org.springframework.transaction.annotation.Transactional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@Transactional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(readOnly 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true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endParaRPr lang="fr-FR" altLang="fr-FR" sz="1400" i="1" dirty="0">
              <a:solidFill>
                <a:srgbClr val="8C8C8C"/>
              </a:solidFill>
              <a:latin typeface="Fira Cod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List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SchoolResource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findSchoolByXYZ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(…) {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return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schoolMapper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.mapResource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jpaSchoolRepository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.findByXYZ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(…));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}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1EF92DC4-F2A0-42AE-AAD6-4DDCF1A68BC6}"/>
              </a:ext>
            </a:extLst>
          </p:cNvPr>
          <p:cNvSpPr/>
          <p:nvPr/>
        </p:nvSpPr>
        <p:spPr>
          <a:xfrm>
            <a:off x="4133701" y="1504314"/>
            <a:ext cx="1316476" cy="473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5DE22FF-521A-46AE-A96A-1528FF84274D}"/>
              </a:ext>
            </a:extLst>
          </p:cNvPr>
          <p:cNvSpPr txBox="1"/>
          <p:nvPr/>
        </p:nvSpPr>
        <p:spPr>
          <a:xfrm>
            <a:off x="5680952" y="1563546"/>
            <a:ext cx="5998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La session ne reste ouverte que dans le « </a:t>
            </a:r>
            <a:r>
              <a:rPr lang="fr-FR" dirty="0" err="1"/>
              <a:t>JpaRepository</a:t>
            </a:r>
            <a:r>
              <a:rPr lang="fr-FR" dirty="0"/>
              <a:t> »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920CA6B-C603-4A3C-B5A2-B1CA0A817985}"/>
              </a:ext>
            </a:extLst>
          </p:cNvPr>
          <p:cNvSpPr txBox="1"/>
          <p:nvPr/>
        </p:nvSpPr>
        <p:spPr>
          <a:xfrm>
            <a:off x="985738" y="2973421"/>
            <a:ext cx="16990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N+1 : Service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2CC5FD9-5E38-49DE-8B8F-4438E245AECA}"/>
              </a:ext>
            </a:extLst>
          </p:cNvPr>
          <p:cNvSpPr txBox="1"/>
          <p:nvPr/>
        </p:nvSpPr>
        <p:spPr>
          <a:xfrm>
            <a:off x="985738" y="5239811"/>
            <a:ext cx="19585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N+1 : Controller</a:t>
            </a:r>
          </a:p>
        </p:txBody>
      </p:sp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8C654378-6D28-491F-9AD9-9C35B15155B3}"/>
              </a:ext>
            </a:extLst>
          </p:cNvPr>
          <p:cNvSpPr/>
          <p:nvPr/>
        </p:nvSpPr>
        <p:spPr>
          <a:xfrm>
            <a:off x="3002050" y="2908103"/>
            <a:ext cx="1316476" cy="473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E212F0A9-4BE7-419E-B347-71F24A35EA5F}"/>
              </a:ext>
            </a:extLst>
          </p:cNvPr>
          <p:cNvSpPr/>
          <p:nvPr/>
        </p:nvSpPr>
        <p:spPr>
          <a:xfrm>
            <a:off x="3002050" y="5239811"/>
            <a:ext cx="1316476" cy="4734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4099" name="Picture 3">
            <a:extLst>
              <a:ext uri="{FF2B5EF4-FFF2-40B4-BE49-F238E27FC236}">
                <a16:creationId xmlns:a16="http://schemas.microsoft.com/office/drawing/2014/main" id="{48AB3548-4D57-4A74-8283-F5A6D72600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7637" y="4095678"/>
            <a:ext cx="4262313" cy="2397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13805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9" grpId="0"/>
      <p:bldP spid="10" grpId="0"/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8778910" cy="640080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Jointures ? Dans quel cas ?</a:t>
            </a:r>
            <a:endParaRPr lang="fr-FR" noProof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973A45-79BA-4939-9DC8-448D24F2FA3E}"/>
              </a:ext>
            </a:extLst>
          </p:cNvPr>
          <p:cNvSpPr txBox="1"/>
          <p:nvPr/>
        </p:nvSpPr>
        <p:spPr>
          <a:xfrm>
            <a:off x="521207" y="1674674"/>
            <a:ext cx="97901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Je filtre sur une entité particulière et je récupère l’arbre, c’est le cas que nous allons traiter dans le slide suivant !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Pagination sur requête avec une réponse « conséquente » (voir section ad hoc) qui nécessite des jointures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25110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1F256E6-053A-4D8D-8299-74C2EA964C42}"/>
              </a:ext>
            </a:extLst>
          </p:cNvPr>
          <p:cNvSpPr/>
          <p:nvPr/>
        </p:nvSpPr>
        <p:spPr>
          <a:xfrm>
            <a:off x="521207" y="5740421"/>
            <a:ext cx="10866640" cy="6695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3B7240A-10E8-4D88-B6BF-589ED00A1F23}"/>
              </a:ext>
            </a:extLst>
          </p:cNvPr>
          <p:cNvSpPr/>
          <p:nvPr/>
        </p:nvSpPr>
        <p:spPr>
          <a:xfrm>
            <a:off x="521207" y="3934903"/>
            <a:ext cx="10866640" cy="66952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8778910" cy="640080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Si l’on veut récupérer tout l’arbre de données</a:t>
            </a:r>
            <a:endParaRPr lang="fr-FR" noProof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973A45-79BA-4939-9DC8-448D24F2FA3E}"/>
              </a:ext>
            </a:extLst>
          </p:cNvPr>
          <p:cNvSpPr txBox="1"/>
          <p:nvPr/>
        </p:nvSpPr>
        <p:spPr>
          <a:xfrm>
            <a:off x="521207" y="1674674"/>
            <a:ext cx="9790161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u="sng" dirty="0"/>
              <a:t>Solutions possibles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La solution par défaut « N+1 »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En </a:t>
            </a:r>
            <a:r>
              <a:rPr lang="fr-FR" dirty="0">
                <a:solidFill>
                  <a:srgbClr val="C00000"/>
                </a:solidFill>
              </a:rPr>
              <a:t>plusieurs</a:t>
            </a:r>
            <a:r>
              <a:rPr lang="fr-FR" dirty="0"/>
              <a:t> fois avec des requêtes dédiées =&gt; peu efficace mais fiable, rapide et sans danger, surtout si la maitrise des ORM est faible :</a:t>
            </a:r>
            <a:br>
              <a:rPr lang="fr-FR" dirty="0"/>
            </a:br>
            <a:r>
              <a:rPr lang="fr-FR" dirty="0" err="1">
                <a:solidFill>
                  <a:srgbClr val="00627A"/>
                </a:solidFill>
                <a:latin typeface="Fira Code"/>
              </a:rPr>
              <a:t>findSchoolByXYZ</a:t>
            </a:r>
            <a:r>
              <a:rPr lang="fr-FR" dirty="0">
                <a:solidFill>
                  <a:srgbClr val="00627A"/>
                </a:solidFill>
                <a:latin typeface="Fira Code"/>
              </a:rPr>
              <a:t>() </a:t>
            </a:r>
            <a:r>
              <a:rPr lang="fr-FR" dirty="0"/>
              <a:t>puis </a:t>
            </a:r>
            <a:r>
              <a:rPr lang="fr-FR" altLang="fr-FR" dirty="0" err="1">
                <a:solidFill>
                  <a:srgbClr val="00627A"/>
                </a:solidFill>
                <a:latin typeface="Fira Code"/>
              </a:rPr>
              <a:t>findStudentsById</a:t>
            </a:r>
            <a:r>
              <a:rPr lang="fr-FR" altLang="fr-FR" dirty="0">
                <a:solidFill>
                  <a:srgbClr val="00627A"/>
                </a:solidFill>
                <a:latin typeface="Fira Code"/>
              </a:rPr>
              <a:t>(List id…) et </a:t>
            </a:r>
            <a:r>
              <a:rPr lang="fr-FR" altLang="fr-FR" dirty="0" err="1">
                <a:solidFill>
                  <a:srgbClr val="00627A"/>
                </a:solidFill>
                <a:latin typeface="Fira Code"/>
              </a:rPr>
              <a:t>findTeachersById</a:t>
            </a:r>
            <a:r>
              <a:rPr lang="fr-FR" altLang="fr-FR" dirty="0">
                <a:solidFill>
                  <a:srgbClr val="00627A"/>
                </a:solidFill>
                <a:latin typeface="Fira Code"/>
              </a:rPr>
              <a:t>(List id…)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altLang="fr-FR" dirty="0">
              <a:solidFill>
                <a:srgbClr val="00627A"/>
              </a:solidFill>
              <a:latin typeface="Fira Code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En </a:t>
            </a:r>
            <a:r>
              <a:rPr lang="fr-FR" dirty="0">
                <a:solidFill>
                  <a:srgbClr val="C00000"/>
                </a:solidFill>
              </a:rPr>
              <a:t>une seule</a:t>
            </a:r>
            <a:r>
              <a:rPr lang="fr-FR" dirty="0"/>
              <a:t> fois </a:t>
            </a:r>
            <a:r>
              <a:rPr lang="fr-FR" dirty="0" err="1">
                <a:solidFill>
                  <a:srgbClr val="00627A"/>
                </a:solidFill>
                <a:latin typeface="Fira Code"/>
              </a:rPr>
              <a:t>findSchoolByXYZ</a:t>
            </a:r>
            <a:r>
              <a:rPr lang="fr-FR" dirty="0">
                <a:solidFill>
                  <a:srgbClr val="00627A"/>
                </a:solidFill>
                <a:latin typeface="Fira Code"/>
              </a:rPr>
              <a:t>()</a:t>
            </a:r>
            <a:r>
              <a:rPr lang="fr-FR" dirty="0"/>
              <a:t> mais avec plusieurs requêtes :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@BatchSize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(size = </a:t>
            </a:r>
            <a:r>
              <a:rPr lang="fr-FR" altLang="fr-FR" dirty="0">
                <a:solidFill>
                  <a:srgbClr val="1750EB"/>
                </a:solidFill>
                <a:latin typeface="Fira Code"/>
              </a:rPr>
              <a:t>x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r>
              <a:rPr lang="fr-FR" dirty="0"/>
              <a:t> pour réduire le nombre de n+1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En </a:t>
            </a:r>
            <a:r>
              <a:rPr lang="fr-FR" dirty="0">
                <a:solidFill>
                  <a:srgbClr val="C00000"/>
                </a:solidFill>
              </a:rPr>
              <a:t>une seule fois </a:t>
            </a:r>
            <a:r>
              <a:rPr lang="fr-FR" dirty="0" err="1">
                <a:solidFill>
                  <a:srgbClr val="00627A"/>
                </a:solidFill>
                <a:latin typeface="Fira Code"/>
              </a:rPr>
              <a:t>findSchoolByXYZ</a:t>
            </a:r>
            <a:r>
              <a:rPr lang="fr-FR" dirty="0">
                <a:solidFill>
                  <a:srgbClr val="00627A"/>
                </a:solidFill>
                <a:latin typeface="Fira Code"/>
              </a:rPr>
              <a:t>() </a:t>
            </a:r>
            <a:r>
              <a:rPr lang="fr-FR" dirty="0"/>
              <a:t>mais avec plusieurs requêtes :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@Fetch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FetchMode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8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SUBSELECT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 </a:t>
            </a:r>
            <a:r>
              <a:rPr lang="fr-FR" dirty="0"/>
              <a:t>pour récupérer en 1 seule fois la liste pour chaque fils : </a:t>
            </a:r>
            <a:r>
              <a:rPr lang="fr-FR" dirty="0">
                <a:solidFill>
                  <a:srgbClr val="FF0000"/>
                </a:solidFill>
              </a:rPr>
              <a:t>incompatible avec la pagination !!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En </a:t>
            </a:r>
            <a:r>
              <a:rPr lang="fr-FR" dirty="0">
                <a:solidFill>
                  <a:srgbClr val="C00000"/>
                </a:solidFill>
              </a:rPr>
              <a:t>une seule fois </a:t>
            </a:r>
            <a:r>
              <a:rPr lang="fr-FR" dirty="0" err="1">
                <a:solidFill>
                  <a:srgbClr val="00627A"/>
                </a:solidFill>
                <a:latin typeface="Fira Code"/>
              </a:rPr>
              <a:t>findSchoolByXYZ</a:t>
            </a:r>
            <a:r>
              <a:rPr lang="fr-FR" dirty="0">
                <a:solidFill>
                  <a:srgbClr val="00627A"/>
                </a:solidFill>
                <a:latin typeface="Fira Code"/>
              </a:rPr>
              <a:t>() </a:t>
            </a:r>
            <a:r>
              <a:rPr lang="fr-FR" dirty="0"/>
              <a:t>mais avec </a:t>
            </a:r>
            <a:r>
              <a:rPr lang="fr-FR" dirty="0">
                <a:solidFill>
                  <a:srgbClr val="C00000"/>
                </a:solidFill>
              </a:rPr>
              <a:t>une seule </a:t>
            </a:r>
            <a:r>
              <a:rPr lang="fr-FR" dirty="0"/>
              <a:t>requête :  FETCH avec produit cartésien, </a:t>
            </a:r>
            <a:r>
              <a:rPr lang="fr-FR" dirty="0">
                <a:solidFill>
                  <a:schemeClr val="accent6">
                    <a:lumMod val="50000"/>
                  </a:schemeClr>
                </a:solidFill>
              </a:rPr>
              <a:t>incompatible avec la pagination !!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endParaRPr lang="fr-FR" dirty="0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EBAAA87-BBC8-4927-B1C1-58893CF49850}"/>
              </a:ext>
            </a:extLst>
          </p:cNvPr>
          <p:cNvSpPr txBox="1"/>
          <p:nvPr/>
        </p:nvSpPr>
        <p:spPr>
          <a:xfrm>
            <a:off x="780612" y="6536563"/>
            <a:ext cx="69732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i="1" dirty="0">
                <a:solidFill>
                  <a:schemeClr val="accent1">
                    <a:lumMod val="75000"/>
                  </a:schemeClr>
                </a:solidFill>
              </a:rPr>
              <a:t>NB : Les annotations ci-dessus sont « </a:t>
            </a:r>
            <a:r>
              <a:rPr lang="fr-FR" i="1" dirty="0" err="1">
                <a:solidFill>
                  <a:schemeClr val="accent1">
                    <a:lumMod val="75000"/>
                  </a:schemeClr>
                </a:solidFill>
              </a:rPr>
              <a:t>hibernate</a:t>
            </a:r>
            <a:r>
              <a:rPr lang="fr-FR" i="1" dirty="0">
                <a:solidFill>
                  <a:schemeClr val="accent1">
                    <a:lumMod val="75000"/>
                  </a:schemeClr>
                </a:solidFill>
              </a:rPr>
              <a:t> » et non « JPA »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7BBB8447-5733-4FAB-9928-DD4104AC0F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21080" y="2212593"/>
            <a:ext cx="4982143" cy="4001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interface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JpaSchoolRepository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extends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JpaRepository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List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findSchoolByXYZ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(filtre);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Flèche : droite 1">
            <a:extLst>
              <a:ext uri="{FF2B5EF4-FFF2-40B4-BE49-F238E27FC236}">
                <a16:creationId xmlns:a16="http://schemas.microsoft.com/office/drawing/2014/main" id="{28B4CAF2-184D-425D-8025-D20A5079BF65}"/>
              </a:ext>
            </a:extLst>
          </p:cNvPr>
          <p:cNvSpPr/>
          <p:nvPr/>
        </p:nvSpPr>
        <p:spPr>
          <a:xfrm>
            <a:off x="4353141" y="2282946"/>
            <a:ext cx="674451" cy="28534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7170" name="Picture 2" descr="Trollface - Wikipedia">
            <a:extLst>
              <a:ext uri="{FF2B5EF4-FFF2-40B4-BE49-F238E27FC236}">
                <a16:creationId xmlns:a16="http://schemas.microsoft.com/office/drawing/2014/main" id="{7D7E78CE-722D-4821-AEE6-A2015E53C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0703" y="2179634"/>
            <a:ext cx="528251" cy="438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231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 animBg="1"/>
      <p:bldP spid="6" grpId="0"/>
      <p:bldP spid="7" grpId="0" animBg="1"/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6" y="448056"/>
            <a:ext cx="10405489" cy="640080"/>
          </a:xfrm>
        </p:spPr>
        <p:txBody>
          <a:bodyPr rtlCol="0">
            <a:normAutofit/>
          </a:bodyPr>
          <a:lstStyle/>
          <a:p>
            <a:pPr rtl="0"/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@BatchSize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(size = 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Fira Code"/>
              </a:rPr>
              <a:t>x</a:t>
            </a:r>
            <a:r>
              <a:rPr kumimoji="0" lang="fr-FR" altLang="fr-FR" sz="2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), mais consomme un peu plus de mémoire/</a:t>
            </a:r>
            <a:r>
              <a:rPr kumimoji="0" lang="fr-FR" altLang="fr-FR" sz="28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cpu</a:t>
            </a:r>
            <a:endParaRPr lang="fr-FR" noProof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CC9D64F-6E6D-45A7-9222-AFB25AC9B773}"/>
              </a:ext>
            </a:extLst>
          </p:cNvPr>
          <p:cNvSpPr txBox="1"/>
          <p:nvPr/>
        </p:nvSpPr>
        <p:spPr>
          <a:xfrm>
            <a:off x="521207" y="1437765"/>
            <a:ext cx="10065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Au moment de l’accès aux données, groupe les jointures en x paquets dans une seule requête</a:t>
            </a:r>
          </a:p>
          <a:p>
            <a:endParaRPr lang="fr-FR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A1BCBB5-3A8F-411E-B3EE-5FF45C268C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8047" y="2661462"/>
            <a:ext cx="5820120" cy="7386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@ManyToMany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(cascade 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CascadeType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ALL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fetch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FetchType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LAZY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@BatchSize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(size =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Fira Code"/>
              </a:rPr>
              <a:t>x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Set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Student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students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808D00E-C449-4637-9374-8158912E3BA5}"/>
              </a:ext>
            </a:extLst>
          </p:cNvPr>
          <p:cNvSpPr txBox="1"/>
          <p:nvPr/>
        </p:nvSpPr>
        <p:spPr>
          <a:xfrm>
            <a:off x="878047" y="4447681"/>
            <a:ext cx="7849641" cy="203132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33B3"/>
                </a:solidFill>
                <a:effectLst/>
              </a:rPr>
              <a:t>select </a:t>
            </a:r>
            <a:r>
              <a:rPr lang="en-US" dirty="0">
                <a:solidFill>
                  <a:srgbClr val="000000"/>
                </a:solidFill>
                <a:effectLst/>
              </a:rPr>
              <a:t>students0_</a:t>
            </a:r>
            <a:r>
              <a:rPr lang="en-US" dirty="0"/>
              <a:t>.</a:t>
            </a:r>
            <a:r>
              <a:rPr lang="en-US" dirty="0">
                <a:solidFill>
                  <a:srgbClr val="871094"/>
                </a:solidFill>
                <a:effectLst/>
              </a:rPr>
              <a:t>school_id  </a:t>
            </a:r>
            <a:r>
              <a:rPr lang="en-US" dirty="0">
                <a:solidFill>
                  <a:srgbClr val="0033B3"/>
                </a:solidFill>
                <a:effectLst/>
              </a:rPr>
              <a:t>as </a:t>
            </a:r>
            <a:r>
              <a:rPr lang="en-US" dirty="0">
                <a:solidFill>
                  <a:srgbClr val="000000"/>
                </a:solidFill>
                <a:effectLst/>
              </a:rPr>
              <a:t>school_i1_2_1_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>
                <a:solidFill>
                  <a:srgbClr val="000000"/>
                </a:solidFill>
                <a:effectLst/>
              </a:rPr>
              <a:t>students0_</a:t>
            </a:r>
            <a:r>
              <a:rPr lang="en-US" dirty="0"/>
              <a:t>.</a:t>
            </a:r>
            <a:r>
              <a:rPr lang="en-US" dirty="0">
                <a:solidFill>
                  <a:srgbClr val="871094"/>
                </a:solidFill>
                <a:effectLst/>
              </a:rPr>
              <a:t>student_id </a:t>
            </a:r>
            <a:r>
              <a:rPr lang="en-US" dirty="0">
                <a:solidFill>
                  <a:srgbClr val="0033B3"/>
                </a:solidFill>
                <a:effectLst/>
              </a:rPr>
              <a:t>as </a:t>
            </a:r>
            <a:r>
              <a:rPr lang="en-US" dirty="0">
                <a:solidFill>
                  <a:srgbClr val="000000"/>
                </a:solidFill>
                <a:effectLst/>
              </a:rPr>
              <a:t>student_2_2_1_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>
                <a:solidFill>
                  <a:srgbClr val="000000"/>
                </a:solidFill>
                <a:effectLst/>
              </a:rPr>
              <a:t>student1_</a:t>
            </a:r>
            <a:r>
              <a:rPr lang="en-US" dirty="0"/>
              <a:t>.</a:t>
            </a:r>
            <a:r>
              <a:rPr lang="en-US" dirty="0">
                <a:solidFill>
                  <a:srgbClr val="871094"/>
                </a:solidFill>
                <a:effectLst/>
              </a:rPr>
              <a:t>id          </a:t>
            </a:r>
            <a:r>
              <a:rPr lang="en-US" dirty="0">
                <a:solidFill>
                  <a:srgbClr val="0033B3"/>
                </a:solidFill>
                <a:effectLst/>
              </a:rPr>
              <a:t>as </a:t>
            </a:r>
            <a:r>
              <a:rPr lang="en-US" dirty="0">
                <a:solidFill>
                  <a:srgbClr val="000000"/>
                </a:solidFill>
                <a:effectLst/>
              </a:rPr>
              <a:t>id1_3_0_</a:t>
            </a:r>
            <a:r>
              <a:rPr lang="en-US" dirty="0"/>
              <a:t>,</a:t>
            </a:r>
            <a:br>
              <a:rPr lang="en-US" dirty="0"/>
            </a:br>
            <a:r>
              <a:rPr lang="en-US" dirty="0"/>
              <a:t>       </a:t>
            </a:r>
            <a:r>
              <a:rPr lang="en-US" dirty="0">
                <a:solidFill>
                  <a:srgbClr val="000000"/>
                </a:solidFill>
                <a:effectLst/>
              </a:rPr>
              <a:t>student1_</a:t>
            </a:r>
            <a:r>
              <a:rPr lang="en-US" dirty="0"/>
              <a:t>.</a:t>
            </a:r>
            <a:r>
              <a:rPr lang="en-US" dirty="0">
                <a:solidFill>
                  <a:srgbClr val="871094"/>
                </a:solidFill>
                <a:effectLst/>
              </a:rPr>
              <a:t>name        </a:t>
            </a:r>
            <a:r>
              <a:rPr lang="en-US" dirty="0">
                <a:solidFill>
                  <a:srgbClr val="0033B3"/>
                </a:solidFill>
                <a:effectLst/>
              </a:rPr>
              <a:t>as </a:t>
            </a:r>
            <a:r>
              <a:rPr lang="en-US" dirty="0">
                <a:solidFill>
                  <a:srgbClr val="000000"/>
                </a:solidFill>
                <a:effectLst/>
              </a:rPr>
              <a:t>name2_3_0_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33B3"/>
                </a:solidFill>
                <a:effectLst/>
              </a:rPr>
              <a:t>from </a:t>
            </a:r>
            <a:r>
              <a:rPr lang="en-US" dirty="0" err="1">
                <a:solidFill>
                  <a:srgbClr val="000000"/>
                </a:solidFill>
                <a:effectLst/>
              </a:rPr>
              <a:t>school_student</a:t>
            </a:r>
            <a:r>
              <a:rPr lang="en-US" dirty="0">
                <a:solidFill>
                  <a:srgbClr val="000000"/>
                </a:solidFill>
                <a:effectLst/>
              </a:rPr>
              <a:t> students0_</a:t>
            </a:r>
            <a:br>
              <a:rPr lang="en-US" dirty="0">
                <a:solidFill>
                  <a:srgbClr val="000000"/>
                </a:solidFill>
                <a:effectLst/>
              </a:rPr>
            </a:br>
            <a:r>
              <a:rPr lang="en-US" dirty="0">
                <a:solidFill>
                  <a:srgbClr val="000000"/>
                </a:solidFill>
                <a:effectLst/>
              </a:rPr>
              <a:t>         </a:t>
            </a:r>
            <a:r>
              <a:rPr lang="en-US" dirty="0">
                <a:solidFill>
                  <a:srgbClr val="0033B3"/>
                </a:solidFill>
                <a:effectLst/>
              </a:rPr>
              <a:t>inner join </a:t>
            </a:r>
            <a:r>
              <a:rPr lang="en-US" dirty="0">
                <a:solidFill>
                  <a:srgbClr val="000000"/>
                </a:solidFill>
                <a:effectLst/>
              </a:rPr>
              <a:t>student student1_ </a:t>
            </a:r>
            <a:r>
              <a:rPr lang="en-US" dirty="0">
                <a:solidFill>
                  <a:srgbClr val="0033B3"/>
                </a:solidFill>
                <a:effectLst/>
              </a:rPr>
              <a:t>on </a:t>
            </a:r>
            <a:r>
              <a:rPr lang="en-US" dirty="0">
                <a:solidFill>
                  <a:srgbClr val="000000"/>
                </a:solidFill>
                <a:effectLst/>
              </a:rPr>
              <a:t>students0_</a:t>
            </a:r>
            <a:r>
              <a:rPr lang="en-US" dirty="0"/>
              <a:t>.</a:t>
            </a:r>
            <a:r>
              <a:rPr lang="en-US" dirty="0">
                <a:solidFill>
                  <a:srgbClr val="871094"/>
                </a:solidFill>
                <a:effectLst/>
              </a:rPr>
              <a:t>student_id </a:t>
            </a:r>
            <a:r>
              <a:rPr lang="en-US" dirty="0"/>
              <a:t>= </a:t>
            </a:r>
            <a:r>
              <a:rPr lang="en-US" dirty="0">
                <a:solidFill>
                  <a:srgbClr val="000000"/>
                </a:solidFill>
                <a:effectLst/>
              </a:rPr>
              <a:t>student1_</a:t>
            </a:r>
            <a:r>
              <a:rPr lang="en-US" dirty="0"/>
              <a:t>.</a:t>
            </a:r>
            <a:r>
              <a:rPr lang="en-US" dirty="0">
                <a:solidFill>
                  <a:srgbClr val="871094"/>
                </a:solidFill>
                <a:effectLst/>
              </a:rPr>
              <a:t>id</a:t>
            </a:r>
            <a:br>
              <a:rPr lang="en-US" dirty="0">
                <a:solidFill>
                  <a:srgbClr val="871094"/>
                </a:solidFill>
                <a:effectLst/>
              </a:rPr>
            </a:br>
            <a:r>
              <a:rPr lang="en-US" dirty="0">
                <a:solidFill>
                  <a:srgbClr val="0033B3"/>
                </a:solidFill>
                <a:effectLst/>
              </a:rPr>
              <a:t>where </a:t>
            </a:r>
            <a:r>
              <a:rPr lang="en-US" dirty="0">
                <a:solidFill>
                  <a:srgbClr val="000000"/>
                </a:solidFill>
                <a:effectLst/>
              </a:rPr>
              <a:t>students0_</a:t>
            </a:r>
            <a:r>
              <a:rPr lang="en-US" dirty="0"/>
              <a:t>.</a:t>
            </a:r>
            <a:r>
              <a:rPr lang="en-US" dirty="0">
                <a:solidFill>
                  <a:srgbClr val="871094"/>
                </a:solidFill>
                <a:effectLst/>
              </a:rPr>
              <a:t>school_id </a:t>
            </a:r>
            <a:r>
              <a:rPr lang="en-US" dirty="0">
                <a:solidFill>
                  <a:srgbClr val="0033B3"/>
                </a:solidFill>
                <a:effectLst/>
              </a:rPr>
              <a:t>in </a:t>
            </a:r>
            <a:r>
              <a:rPr lang="en-US" dirty="0"/>
              <a:t>(?, ?, ?, ?, ?, ?, ?, ?, ?, ?, ?, ?, ?, ?, ?)  </a:t>
            </a:r>
            <a:r>
              <a:rPr lang="en-US" dirty="0">
                <a:solidFill>
                  <a:srgbClr val="FF0000"/>
                </a:solidFill>
              </a:rPr>
              <a:t>&lt; x </a:t>
            </a:r>
            <a:r>
              <a:rPr lang="en-US" dirty="0" err="1">
                <a:solidFill>
                  <a:srgbClr val="FF0000"/>
                </a:solidFill>
              </a:rPr>
              <a:t>fois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43371798-D34B-4210-91A9-C800D4720354}"/>
              </a:ext>
            </a:extLst>
          </p:cNvPr>
          <p:cNvSpPr/>
          <p:nvPr/>
        </p:nvSpPr>
        <p:spPr>
          <a:xfrm>
            <a:off x="3278458" y="3514513"/>
            <a:ext cx="661639" cy="7952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087D13C-FBF8-432E-B739-31A3A8BE96D7}"/>
              </a:ext>
            </a:extLst>
          </p:cNvPr>
          <p:cNvSpPr txBox="1"/>
          <p:nvPr/>
        </p:nvSpPr>
        <p:spPr>
          <a:xfrm>
            <a:off x="2706029" y="1766359"/>
            <a:ext cx="19105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>
                <a:solidFill>
                  <a:srgbClr val="00627A"/>
                </a:solidFill>
                <a:latin typeface="Fira Code"/>
              </a:rPr>
              <a:t>findSchoolByXYZ</a:t>
            </a:r>
            <a:r>
              <a:rPr lang="fr-FR" dirty="0">
                <a:solidFill>
                  <a:srgbClr val="00627A"/>
                </a:solidFill>
                <a:latin typeface="Fira Code"/>
              </a:rPr>
              <a:t>() </a:t>
            </a:r>
            <a:endParaRPr lang="fr-FR" dirty="0"/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365ECC1E-CBF6-4057-8FF6-001F4358481F}"/>
              </a:ext>
            </a:extLst>
          </p:cNvPr>
          <p:cNvSpPr/>
          <p:nvPr/>
        </p:nvSpPr>
        <p:spPr>
          <a:xfrm>
            <a:off x="3339789" y="2172327"/>
            <a:ext cx="538976" cy="3286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3" name="Tableau 4">
            <a:extLst>
              <a:ext uri="{FF2B5EF4-FFF2-40B4-BE49-F238E27FC236}">
                <a16:creationId xmlns:a16="http://schemas.microsoft.com/office/drawing/2014/main" id="{6120CDA5-7181-4B39-83E9-238C4C21D7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1911272"/>
              </p:ext>
            </p:extLst>
          </p:nvPr>
        </p:nvGraphicFramePr>
        <p:xfrm>
          <a:off x="8313237" y="2084096"/>
          <a:ext cx="3135088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4">
                  <a:extLst>
                    <a:ext uri="{9D8B030D-6E8A-4147-A177-3AD203B41FA5}">
                      <a16:colId xmlns:a16="http://schemas.microsoft.com/office/drawing/2014/main" val="760361737"/>
                    </a:ext>
                  </a:extLst>
                </a:gridCol>
                <a:gridCol w="1567544">
                  <a:extLst>
                    <a:ext uri="{9D8B030D-6E8A-4147-A177-3AD203B41FA5}">
                      <a16:colId xmlns:a16="http://schemas.microsoft.com/office/drawing/2014/main" val="2972026219"/>
                    </a:ext>
                  </a:extLst>
                </a:gridCol>
              </a:tblGrid>
              <a:tr h="35333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SGBD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X max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02679771"/>
                  </a:ext>
                </a:extLst>
              </a:tr>
              <a:tr h="35333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Oracle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0444060"/>
                  </a:ext>
                </a:extLst>
              </a:tr>
              <a:tr h="35333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PostgreSQL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 err="1"/>
                        <a:t>integer</a:t>
                      </a:r>
                      <a:r>
                        <a:rPr lang="fr-FR" dirty="0"/>
                        <a:t> as a 2-byte (</a:t>
                      </a:r>
                      <a:r>
                        <a:rPr lang="fr-FR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32768)</a:t>
                      </a:r>
                      <a:endParaRPr lang="fr-F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394642"/>
                  </a:ext>
                </a:extLst>
              </a:tr>
              <a:tr h="353333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MySQL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4108464"/>
                  </a:ext>
                </a:extLst>
              </a:tr>
            </a:tbl>
          </a:graphicData>
        </a:graphic>
      </p:graphicFrame>
      <p:sp>
        <p:nvSpPr>
          <p:cNvPr id="6" name="ZoneTexte 5">
            <a:extLst>
              <a:ext uri="{FF2B5EF4-FFF2-40B4-BE49-F238E27FC236}">
                <a16:creationId xmlns:a16="http://schemas.microsoft.com/office/drawing/2014/main" id="{B4215332-D00F-45E6-A9F1-52DC0BC036DB}"/>
              </a:ext>
            </a:extLst>
          </p:cNvPr>
          <p:cNvSpPr txBox="1"/>
          <p:nvPr/>
        </p:nvSpPr>
        <p:spPr>
          <a:xfrm>
            <a:off x="9811256" y="5235569"/>
            <a:ext cx="1725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Démo ?</a:t>
            </a:r>
          </a:p>
          <a:p>
            <a:r>
              <a:rPr lang="fr-FR" altLang="fr-FR" dirty="0" err="1">
                <a:solidFill>
                  <a:srgbClr val="067D17"/>
                </a:solidFill>
                <a:latin typeface="Fira Code"/>
              </a:rPr>
              <a:t>findById</a:t>
            </a:r>
            <a:endParaRPr lang="fr-FR" b="1" dirty="0">
              <a:solidFill>
                <a:srgbClr val="FF0000"/>
              </a:solidFill>
            </a:endParaRPr>
          </a:p>
          <a:p>
            <a:r>
              <a:rPr lang="fr-FR" altLang="fr-FR" dirty="0" err="1">
                <a:solidFill>
                  <a:srgbClr val="067D17"/>
                </a:solidFill>
                <a:latin typeface="Fira Code"/>
              </a:rPr>
              <a:t>findByLocation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95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6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One Shot !  Produit cartésien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7831342-37D1-45A0-9EB3-10E7579CB5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728" y="1366166"/>
            <a:ext cx="6817112" cy="3693319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interface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JpaSchoolRepository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extends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JpaRepository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{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br>
              <a:rPr kumimoji="0" lang="fr-FR" altLang="fr-FR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@Query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"SELECT distinct sc FROM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sc"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 INNER JOIN FETCH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sc.director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 LEFT JOIN FETCH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sc.students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 LEFT JOIN FETCH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sc.teachers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"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List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findAll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();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lang="fr-FR" altLang="fr-FR" sz="1300" dirty="0">
              <a:solidFill>
                <a:srgbClr val="080808"/>
              </a:solidFill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300" b="0" i="1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@EntityGraph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(value =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school.full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List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findAll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();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3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300" dirty="0">
              <a:solidFill>
                <a:srgbClr val="080808"/>
              </a:solidFill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fr-FR" altLang="fr-FR" sz="1300" dirty="0">
              <a:solidFill>
                <a:srgbClr val="080808"/>
              </a:solidFill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@EntityGraph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(attributePaths = {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students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teachers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}) 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Fira Code"/>
              </a:rPr>
              <a:t>// LEFT JOIN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Fira Code"/>
              </a:rPr>
              <a:t>only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Fira Code"/>
              </a:rPr>
              <a:t> !!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List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findAll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();</a:t>
            </a:r>
            <a:endParaRPr kumimoji="0" lang="fr-FR" altLang="fr-F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83E35CCF-332F-4D6E-BB85-E0060F0D9D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5352" y="2681837"/>
            <a:ext cx="4584342" cy="149271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@NamedEntityGraph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Fira Code"/>
              </a:rPr>
              <a:t>// LEFT JOIN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Fira Code"/>
              </a:rPr>
              <a:t>only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Fira Code"/>
              </a:rPr>
              <a:t> !!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name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school.full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attributeNodes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{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@NamedAttributeNode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"director"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fr-FR" altLang="fr-FR" sz="1300" dirty="0">
                <a:solidFill>
                  <a:srgbClr val="080808"/>
                </a:solidFill>
                <a:latin typeface="Fira Code"/>
              </a:rPr>
              <a:t>	               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@NamedAttributeNode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"students"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),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	                @NamedAttributeNode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"teachers"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)}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3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3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endParaRPr kumimoji="0" lang="fr-FR" altLang="fr-FR" sz="13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B1B618C4-A69F-48D6-9491-20E7DF6C7649}"/>
              </a:ext>
            </a:extLst>
          </p:cNvPr>
          <p:cNvCxnSpPr/>
          <p:nvPr/>
        </p:nvCxnSpPr>
        <p:spPr>
          <a:xfrm>
            <a:off x="3394639" y="3550043"/>
            <a:ext cx="940419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9" name="ZoneTexte 8">
            <a:extLst>
              <a:ext uri="{FF2B5EF4-FFF2-40B4-BE49-F238E27FC236}">
                <a16:creationId xmlns:a16="http://schemas.microsoft.com/office/drawing/2014/main" id="{EBD28168-5FA5-4BA9-8606-9724E2C22CDD}"/>
              </a:ext>
            </a:extLst>
          </p:cNvPr>
          <p:cNvSpPr txBox="1"/>
          <p:nvPr/>
        </p:nvSpPr>
        <p:spPr>
          <a:xfrm>
            <a:off x="521207" y="5091569"/>
            <a:ext cx="1006583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Réalise un produit cartésien, mais avec une seule requête</a:t>
            </a:r>
            <a:br>
              <a:rPr lang="fr-FR" dirty="0">
                <a:solidFill>
                  <a:srgbClr val="FF0000"/>
                </a:solidFill>
              </a:rPr>
            </a:br>
            <a:r>
              <a:rPr lang="fr-FR" dirty="0"/>
              <a:t>Nb résultat = </a:t>
            </a:r>
            <a:r>
              <a:rPr lang="fr-FR" dirty="0">
                <a:solidFill>
                  <a:srgbClr val="7030A0"/>
                </a:solidFill>
              </a:rPr>
              <a:t>nb entités racines</a:t>
            </a:r>
            <a:r>
              <a:rPr lang="fr-FR" dirty="0"/>
              <a:t> * </a:t>
            </a:r>
            <a:r>
              <a:rPr lang="fr-FR" dirty="0">
                <a:solidFill>
                  <a:schemeClr val="accent2">
                    <a:lumMod val="75000"/>
                  </a:schemeClr>
                </a:solidFill>
              </a:rPr>
              <a:t>nb entités filles type 1 </a:t>
            </a:r>
            <a:r>
              <a:rPr lang="fr-FR" dirty="0"/>
              <a:t>* </a:t>
            </a:r>
            <a:r>
              <a:rPr lang="fr-FR" dirty="0">
                <a:solidFill>
                  <a:srgbClr val="0070C0"/>
                </a:solidFill>
              </a:rPr>
              <a:t>nb entités filles type 2</a:t>
            </a:r>
            <a:r>
              <a:rPr lang="fr-FR" dirty="0"/>
              <a:t> etc…</a:t>
            </a:r>
            <a:endParaRPr lang="fr-FR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Prérequis : Remplacer List&lt;&gt; par Set&lt;&gt;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Bien pour des jointures avec des volumétries de l’ordre de grandeur de la centaine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Prioritaire par rapport aux annotations </a:t>
            </a:r>
            <a:r>
              <a:rPr lang="fr-FR" dirty="0" err="1"/>
              <a:t>hibernate</a:t>
            </a:r>
            <a:r>
              <a:rPr lang="fr-FR" dirty="0"/>
              <a:t> (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@BatchSize</a:t>
            </a:r>
            <a:r>
              <a:rPr lang="fr-FR" dirty="0"/>
              <a:t> &amp; 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@Fetch</a:t>
            </a:r>
            <a:r>
              <a:rPr lang="fr-FR" dirty="0"/>
              <a:t>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Si recherche, utilisez la clause </a:t>
            </a:r>
            <a:r>
              <a:rPr lang="fr-FR" dirty="0" err="1"/>
              <a:t>limit</a:t>
            </a:r>
            <a:endParaRPr lang="fr-FR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819BF36-B9EE-4A35-9774-BC2012A8FE53}"/>
              </a:ext>
            </a:extLst>
          </p:cNvPr>
          <p:cNvSpPr txBox="1"/>
          <p:nvPr/>
        </p:nvSpPr>
        <p:spPr>
          <a:xfrm>
            <a:off x="10166258" y="5569056"/>
            <a:ext cx="17257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Démo ?</a:t>
            </a:r>
          </a:p>
          <a:p>
            <a:r>
              <a:rPr lang="fr-FR" altLang="fr-FR" dirty="0" err="1">
                <a:solidFill>
                  <a:srgbClr val="067D17"/>
                </a:solidFill>
                <a:latin typeface="Fira Code"/>
              </a:rPr>
              <a:t>findById</a:t>
            </a:r>
            <a:endParaRPr lang="fr-FR" b="1" dirty="0">
              <a:solidFill>
                <a:srgbClr val="FF0000"/>
              </a:solidFill>
            </a:endParaRPr>
          </a:p>
          <a:p>
            <a:r>
              <a:rPr lang="fr-FR" altLang="fr-FR" dirty="0" err="1">
                <a:solidFill>
                  <a:srgbClr val="067D17"/>
                </a:solidFill>
                <a:latin typeface="Fira Code"/>
              </a:rPr>
              <a:t>findByLocation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90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Temps de réponse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B21C0C4-B67F-4946-91F5-57FCE1A1731F}"/>
              </a:ext>
            </a:extLst>
          </p:cNvPr>
          <p:cNvSpPr txBox="1"/>
          <p:nvPr/>
        </p:nvSpPr>
        <p:spPr>
          <a:xfrm>
            <a:off x="521207" y="1588612"/>
            <a:ext cx="979016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Sur un accès unitaire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Avec un outil de test de charge : </a:t>
            </a:r>
            <a:r>
              <a:rPr lang="fr-FR" dirty="0" err="1"/>
              <a:t>Gatling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139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8778910" cy="640080"/>
          </a:xfrm>
        </p:spPr>
        <p:txBody>
          <a:bodyPr rtlCol="0">
            <a:normAutofit/>
          </a:bodyPr>
          <a:lstStyle/>
          <a:p>
            <a:pPr rtl="0"/>
            <a:r>
              <a:rPr lang="fr-FR" dirty="0"/>
              <a:t>Erreur classique !</a:t>
            </a:r>
            <a:endParaRPr lang="fr-FR" noProof="1"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6973A45-79BA-4939-9DC8-448D24F2FA3E}"/>
              </a:ext>
            </a:extLst>
          </p:cNvPr>
          <p:cNvSpPr txBox="1"/>
          <p:nvPr/>
        </p:nvSpPr>
        <p:spPr>
          <a:xfrm>
            <a:off x="521207" y="1674674"/>
            <a:ext cx="979016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u="sng" dirty="0"/>
              <a:t>Condition 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Relation parent avec au moins deux List&lt;fils&gt;… (le type List empêche le produit cartésien)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Tout mettre en EAGER ou faire des FETCH sur tous les fils en même temps</a:t>
            </a:r>
          </a:p>
          <a:p>
            <a:endParaRPr lang="fr-FR" dirty="0"/>
          </a:p>
          <a:p>
            <a:r>
              <a:rPr lang="fr-FR" dirty="0" err="1"/>
              <a:t>org.hibernate.loader.</a:t>
            </a:r>
            <a:r>
              <a:rPr lang="fr-FR" dirty="0" err="1">
                <a:solidFill>
                  <a:srgbClr val="FF0000"/>
                </a:solidFill>
              </a:rPr>
              <a:t>MultipleBagFetchException</a:t>
            </a:r>
            <a:r>
              <a:rPr lang="fr-FR" dirty="0"/>
              <a:t>: </a:t>
            </a:r>
            <a:r>
              <a:rPr lang="fr-FR" dirty="0" err="1"/>
              <a:t>cannot</a:t>
            </a:r>
            <a:r>
              <a:rPr lang="fr-FR" dirty="0"/>
              <a:t> </a:t>
            </a:r>
            <a:r>
              <a:rPr lang="fr-FR" dirty="0" err="1"/>
              <a:t>simultaneously</a:t>
            </a:r>
            <a:r>
              <a:rPr lang="fr-FR" dirty="0"/>
              <a:t> </a:t>
            </a:r>
            <a:r>
              <a:rPr lang="fr-FR" dirty="0" err="1"/>
              <a:t>fetch</a:t>
            </a:r>
            <a:r>
              <a:rPr lang="fr-FR" dirty="0"/>
              <a:t> multiple </a:t>
            </a:r>
            <a:r>
              <a:rPr lang="fr-FR" dirty="0" err="1"/>
              <a:t>bags</a:t>
            </a:r>
            <a:r>
              <a:rPr lang="fr-FR" dirty="0"/>
              <a:t>:</a:t>
            </a:r>
          </a:p>
          <a:p>
            <a:r>
              <a:rPr lang="fr-FR" dirty="0"/>
              <a:t>[</a:t>
            </a:r>
            <a:r>
              <a:rPr lang="fr-FR" dirty="0" err="1"/>
              <a:t>com.example.project.dao.domain.School.</a:t>
            </a:r>
            <a:r>
              <a:rPr lang="fr-FR" dirty="0" err="1">
                <a:highlight>
                  <a:srgbClr val="FFFF00"/>
                </a:highlight>
              </a:rPr>
              <a:t>students</a:t>
            </a:r>
            <a:r>
              <a:rPr lang="fr-FR" dirty="0"/>
              <a:t>, </a:t>
            </a:r>
            <a:r>
              <a:rPr lang="fr-FR" dirty="0" err="1"/>
              <a:t>com.example.project.dao.domain.School.</a:t>
            </a:r>
            <a:r>
              <a:rPr lang="fr-FR" dirty="0" err="1">
                <a:highlight>
                  <a:srgbClr val="FFFF00"/>
                </a:highlight>
              </a:rPr>
              <a:t>teachers</a:t>
            </a:r>
            <a:r>
              <a:rPr lang="fr-FR" dirty="0"/>
              <a:t>]</a:t>
            </a:r>
          </a:p>
        </p:txBody>
      </p:sp>
    </p:spTree>
    <p:extLst>
      <p:ext uri="{BB962C8B-B14F-4D97-AF65-F5344CB8AC3E}">
        <p14:creationId xmlns:p14="http://schemas.microsoft.com/office/powerpoint/2010/main" val="2676478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Pagination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A8486CA-756E-4DF4-BA26-274199D9E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52" y="2369864"/>
            <a:ext cx="6262488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interface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JpaSchoolRepository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extends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JpaRepository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{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@EntityGraph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(attributePaths = {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})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Fira Code"/>
              </a:rPr>
              <a:t>// relation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latin typeface="Fira Code"/>
              </a:rPr>
              <a:t>xxxToOne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@Query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"SELECT sc FROM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sc WHERE …"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Page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findAll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(Type</a:t>
            </a:r>
            <a:r>
              <a:rPr kumimoji="0" lang="fr-FR" altLang="fr-FR" sz="1400" b="0" i="0" u="none" strike="noStrike" cap="none" normalizeH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param,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C1D7EC-33BA-4E6D-AC7B-269F748BB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53" y="1491555"/>
            <a:ext cx="6262487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PageRequest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of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(page, size,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Sort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by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));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DF4FD106-DA6D-4829-A571-B3607886031D}"/>
              </a:ext>
            </a:extLst>
          </p:cNvPr>
          <p:cNvSpPr/>
          <p:nvPr/>
        </p:nvSpPr>
        <p:spPr>
          <a:xfrm>
            <a:off x="3017060" y="1954854"/>
            <a:ext cx="538976" cy="3286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33B38AAE-43C7-4A2D-B77E-2AA679361D10}"/>
              </a:ext>
            </a:extLst>
          </p:cNvPr>
          <p:cNvSpPr/>
          <p:nvPr/>
        </p:nvSpPr>
        <p:spPr>
          <a:xfrm>
            <a:off x="3017060" y="3846342"/>
            <a:ext cx="538976" cy="3286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AC5A4E5-435F-4399-BDCC-6B65FFD2AB42}"/>
              </a:ext>
            </a:extLst>
          </p:cNvPr>
          <p:cNvSpPr txBox="1"/>
          <p:nvPr/>
        </p:nvSpPr>
        <p:spPr>
          <a:xfrm>
            <a:off x="2728496" y="4135338"/>
            <a:ext cx="234788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/>
              <a:t>{</a:t>
            </a:r>
          </a:p>
          <a:p>
            <a:r>
              <a:rPr lang="fr-FR" sz="1400" dirty="0"/>
              <a:t>  "</a:t>
            </a:r>
            <a:r>
              <a:rPr lang="fr-FR" sz="1400" dirty="0" err="1"/>
              <a:t>elements</a:t>
            </a:r>
            <a:r>
              <a:rPr lang="fr-FR" sz="1400" dirty="0"/>
              <a:t>": [</a:t>
            </a:r>
          </a:p>
          <a:p>
            <a:r>
              <a:rPr lang="fr-FR" sz="1400" dirty="0"/>
              <a:t>     ... </a:t>
            </a:r>
            <a:r>
              <a:rPr lang="fr-FR" sz="1400" dirty="0" err="1">
                <a:highlight>
                  <a:srgbClr val="FFFF00"/>
                </a:highlight>
              </a:rPr>
              <a:t>schools</a:t>
            </a:r>
            <a:endParaRPr lang="fr-FR" sz="1400" dirty="0">
              <a:highlight>
                <a:srgbClr val="FFFF00"/>
              </a:highlight>
            </a:endParaRPr>
          </a:p>
          <a:p>
            <a:r>
              <a:rPr lang="fr-FR" sz="1400" dirty="0"/>
              <a:t>  ],</a:t>
            </a:r>
          </a:p>
          <a:p>
            <a:r>
              <a:rPr lang="fr-FR" sz="1400" dirty="0"/>
              <a:t>  "</a:t>
            </a:r>
            <a:r>
              <a:rPr lang="fr-FR" sz="1400" dirty="0" err="1"/>
              <a:t>totalElements</a:t>
            </a:r>
            <a:r>
              <a:rPr lang="fr-FR" sz="1400" dirty="0"/>
              <a:t>": 36,</a:t>
            </a:r>
          </a:p>
          <a:p>
            <a:r>
              <a:rPr lang="fr-FR" sz="1400" dirty="0"/>
              <a:t>  "</a:t>
            </a:r>
            <a:r>
              <a:rPr lang="fr-FR" sz="1400" dirty="0" err="1"/>
              <a:t>totalPages</a:t>
            </a:r>
            <a:r>
              <a:rPr lang="fr-FR" sz="1400" dirty="0"/>
              <a:t>": 9,</a:t>
            </a:r>
          </a:p>
          <a:p>
            <a:r>
              <a:rPr lang="fr-FR" sz="1400" dirty="0"/>
              <a:t>  "offset": 0,</a:t>
            </a:r>
          </a:p>
          <a:p>
            <a:r>
              <a:rPr lang="fr-FR" sz="1400" dirty="0"/>
              <a:t>  "</a:t>
            </a:r>
            <a:r>
              <a:rPr lang="fr-FR" sz="1400" dirty="0" err="1"/>
              <a:t>pageNumber</a:t>
            </a:r>
            <a:r>
              <a:rPr lang="fr-FR" sz="1400" dirty="0"/>
              <a:t>": 0,</a:t>
            </a:r>
          </a:p>
          <a:p>
            <a:r>
              <a:rPr lang="fr-FR" sz="1400" dirty="0"/>
              <a:t>  "</a:t>
            </a:r>
            <a:r>
              <a:rPr lang="fr-FR" sz="1400" dirty="0" err="1"/>
              <a:t>pageSize</a:t>
            </a:r>
            <a:r>
              <a:rPr lang="fr-FR" sz="1400" dirty="0"/>
              <a:t>": 4,</a:t>
            </a:r>
          </a:p>
          <a:p>
            <a:r>
              <a:rPr lang="fr-FR" sz="1400" dirty="0"/>
              <a:t>  "last": false</a:t>
            </a:r>
          </a:p>
          <a:p>
            <a:r>
              <a:rPr lang="fr-FR" sz="1400" dirty="0"/>
              <a:t>}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660169F-952A-4E96-B592-E414BD734445}"/>
              </a:ext>
            </a:extLst>
          </p:cNvPr>
          <p:cNvSpPr txBox="1"/>
          <p:nvPr/>
        </p:nvSpPr>
        <p:spPr>
          <a:xfrm>
            <a:off x="10015651" y="5622845"/>
            <a:ext cx="1860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Démo ?</a:t>
            </a:r>
          </a:p>
          <a:p>
            <a:r>
              <a:rPr lang="fr-FR" altLang="fr-FR" dirty="0" err="1">
                <a:solidFill>
                  <a:srgbClr val="067D17"/>
                </a:solidFill>
                <a:latin typeface="Fira Code"/>
              </a:rPr>
              <a:t>findAllPagination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3761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10" grpId="0"/>
      <p:bldP spid="8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Pagination Infinie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AA8486CA-756E-4DF4-BA26-274199D9E3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52" y="2369864"/>
            <a:ext cx="6262488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interface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JpaSchoolRepository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extends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JpaRepository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{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@EntityGraph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(attributePaths = {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})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@Query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"SELECT sc FROM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sc WHERE…"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Slice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findAllSlice</a:t>
            </a:r>
            <a:r>
              <a:rPr lang="fr-FR" altLang="fr-FR" sz="1400" dirty="0">
                <a:solidFill>
                  <a:srgbClr val="080808"/>
                </a:solidFill>
                <a:latin typeface="Fira Code"/>
              </a:rPr>
              <a:t>(Type param,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C1D7EC-33BA-4E6D-AC7B-269F748BB3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9353" y="1491555"/>
            <a:ext cx="6262487" cy="30777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PageRequest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of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(page, size,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Sort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by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));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Flèche : bas 4">
            <a:extLst>
              <a:ext uri="{FF2B5EF4-FFF2-40B4-BE49-F238E27FC236}">
                <a16:creationId xmlns:a16="http://schemas.microsoft.com/office/drawing/2014/main" id="{DF4FD106-DA6D-4829-A571-B3607886031D}"/>
              </a:ext>
            </a:extLst>
          </p:cNvPr>
          <p:cNvSpPr/>
          <p:nvPr/>
        </p:nvSpPr>
        <p:spPr>
          <a:xfrm>
            <a:off x="3017060" y="1954854"/>
            <a:ext cx="538976" cy="3286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Flèche : bas 5">
            <a:extLst>
              <a:ext uri="{FF2B5EF4-FFF2-40B4-BE49-F238E27FC236}">
                <a16:creationId xmlns:a16="http://schemas.microsoft.com/office/drawing/2014/main" id="{33B38AAE-43C7-4A2D-B77E-2AA679361D10}"/>
              </a:ext>
            </a:extLst>
          </p:cNvPr>
          <p:cNvSpPr/>
          <p:nvPr/>
        </p:nvSpPr>
        <p:spPr>
          <a:xfrm>
            <a:off x="3017060" y="3846342"/>
            <a:ext cx="538976" cy="3286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AC5A4E5-435F-4399-BDCC-6B65FFD2AB42}"/>
              </a:ext>
            </a:extLst>
          </p:cNvPr>
          <p:cNvSpPr txBox="1"/>
          <p:nvPr/>
        </p:nvSpPr>
        <p:spPr>
          <a:xfrm>
            <a:off x="2728496" y="4135338"/>
            <a:ext cx="2347885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dirty="0"/>
              <a:t>{</a:t>
            </a:r>
          </a:p>
          <a:p>
            <a:r>
              <a:rPr lang="en-US" sz="1400" dirty="0"/>
              <a:t>  "elements": [</a:t>
            </a:r>
          </a:p>
          <a:p>
            <a:r>
              <a:rPr lang="en-US" sz="1400" dirty="0"/>
              <a:t>    … </a:t>
            </a:r>
            <a:r>
              <a:rPr lang="en-US" sz="1400" dirty="0">
                <a:highlight>
                  <a:srgbClr val="FFFF00"/>
                </a:highlight>
              </a:rPr>
              <a:t>schools</a:t>
            </a:r>
          </a:p>
          <a:p>
            <a:r>
              <a:rPr lang="en-US" sz="1400" dirty="0"/>
              <a:t>  ],</a:t>
            </a:r>
          </a:p>
          <a:p>
            <a:r>
              <a:rPr lang="en-US" sz="1400" dirty="0"/>
              <a:t>  "offset": 4,</a:t>
            </a:r>
          </a:p>
          <a:p>
            <a:r>
              <a:rPr lang="en-US" sz="1400" dirty="0"/>
              <a:t>  "</a:t>
            </a:r>
            <a:r>
              <a:rPr lang="en-US" sz="1400" dirty="0" err="1"/>
              <a:t>pageNumber</a:t>
            </a:r>
            <a:r>
              <a:rPr lang="en-US" sz="1400" dirty="0"/>
              <a:t>": 1,</a:t>
            </a:r>
          </a:p>
          <a:p>
            <a:r>
              <a:rPr lang="en-US" sz="1400" dirty="0"/>
              <a:t>  "</a:t>
            </a:r>
            <a:r>
              <a:rPr lang="en-US" sz="1400" dirty="0" err="1"/>
              <a:t>pageSize</a:t>
            </a:r>
            <a:r>
              <a:rPr lang="en-US" sz="1400" dirty="0"/>
              <a:t>": 4,</a:t>
            </a:r>
          </a:p>
          <a:p>
            <a:r>
              <a:rPr lang="en-US" sz="1400" dirty="0"/>
              <a:t>  "last": false</a:t>
            </a:r>
          </a:p>
          <a:p>
            <a:r>
              <a:rPr lang="en-US" sz="1400" dirty="0"/>
              <a:t>}</a:t>
            </a:r>
            <a:endParaRPr lang="fr-FR" sz="1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2AAE01E2-0702-40FA-9154-D99A819595D9}"/>
              </a:ext>
            </a:extLst>
          </p:cNvPr>
          <p:cNvSpPr txBox="1"/>
          <p:nvPr/>
        </p:nvSpPr>
        <p:spPr>
          <a:xfrm>
            <a:off x="7221070" y="4706036"/>
            <a:ext cx="278354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/>
              <a:t> "</a:t>
            </a:r>
            <a:r>
              <a:rPr lang="fr-FR" sz="1800" dirty="0" err="1"/>
              <a:t>totalElements</a:t>
            </a:r>
            <a:r>
              <a:rPr lang="fr-FR" sz="1800" dirty="0"/>
              <a:t>": 36,</a:t>
            </a:r>
          </a:p>
          <a:p>
            <a:r>
              <a:rPr lang="fr-FR" sz="1800" dirty="0"/>
              <a:t>  "</a:t>
            </a:r>
            <a:r>
              <a:rPr lang="fr-FR" sz="1800" dirty="0" err="1"/>
              <a:t>totalPages</a:t>
            </a:r>
            <a:r>
              <a:rPr lang="fr-FR" sz="1800" dirty="0"/>
              <a:t>": 9,</a:t>
            </a:r>
            <a:endParaRPr lang="fr-FR" dirty="0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B7F8636C-A9E7-427E-AC98-D653DA31026F}"/>
              </a:ext>
            </a:extLst>
          </p:cNvPr>
          <p:cNvSpPr/>
          <p:nvPr/>
        </p:nvSpPr>
        <p:spPr>
          <a:xfrm>
            <a:off x="5002306" y="4940834"/>
            <a:ext cx="1644383" cy="514830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473427-6A4D-423E-BC24-14197EAE7950}"/>
              </a:ext>
            </a:extLst>
          </p:cNvPr>
          <p:cNvSpPr txBox="1"/>
          <p:nvPr/>
        </p:nvSpPr>
        <p:spPr>
          <a:xfrm>
            <a:off x="5002305" y="4521370"/>
            <a:ext cx="164438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Supprimé</a:t>
            </a:r>
          </a:p>
          <a:p>
            <a:endParaRPr lang="fr-FR" dirty="0"/>
          </a:p>
          <a:p>
            <a:endParaRPr lang="fr-FR" dirty="0"/>
          </a:p>
          <a:p>
            <a:r>
              <a:rPr lang="fr-FR" dirty="0"/>
              <a:t>1 </a:t>
            </a:r>
            <a:r>
              <a:rPr lang="fr-FR" dirty="0" err="1"/>
              <a:t>req</a:t>
            </a:r>
            <a:r>
              <a:rPr lang="fr-FR" dirty="0"/>
              <a:t> count économisée !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C35F6EF-9ACE-436C-8D37-482743F7B4CA}"/>
              </a:ext>
            </a:extLst>
          </p:cNvPr>
          <p:cNvSpPr txBox="1"/>
          <p:nvPr/>
        </p:nvSpPr>
        <p:spPr>
          <a:xfrm>
            <a:off x="10331209" y="5675532"/>
            <a:ext cx="18607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</a:rPr>
              <a:t>Démo ?</a:t>
            </a:r>
          </a:p>
          <a:p>
            <a:r>
              <a:rPr lang="fr-FR" altLang="fr-FR" dirty="0" err="1">
                <a:solidFill>
                  <a:srgbClr val="067D17"/>
                </a:solidFill>
                <a:latin typeface="Fira Code"/>
              </a:rPr>
              <a:t>findAllSlice</a:t>
            </a:r>
            <a:endParaRPr lang="fr-FR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90275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10" grpId="0"/>
      <p:bldP spid="9" grpId="0"/>
      <p:bldP spid="8" grpId="0" animBg="1"/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B0572-8807-4D51-922C-2D068019A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7" y="448056"/>
            <a:ext cx="11081684" cy="640080"/>
          </a:xfrm>
        </p:spPr>
        <p:txBody>
          <a:bodyPr>
            <a:normAutofit/>
          </a:bodyPr>
          <a:lstStyle/>
          <a:p>
            <a:r>
              <a:rPr lang="fr-FR" dirty="0"/>
              <a:t>Erreur de pagination : Hibernate favorise la consistance des données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2047C55-F15D-403B-B851-9254F2C28502}"/>
              </a:ext>
            </a:extLst>
          </p:cNvPr>
          <p:cNvSpPr txBox="1"/>
          <p:nvPr/>
        </p:nvSpPr>
        <p:spPr>
          <a:xfrm>
            <a:off x="607039" y="1446615"/>
            <a:ext cx="853888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FF0000"/>
                </a:solidFill>
                <a:effectLst/>
                <a:latin typeface="SFMono-Regular"/>
              </a:rPr>
              <a:t>HHH000104: 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SFMono-Regular"/>
              </a:rPr>
              <a:t>firstResult</a:t>
            </a:r>
            <a:r>
              <a:rPr lang="en-US" b="0" i="0" dirty="0">
                <a:solidFill>
                  <a:srgbClr val="FF0000"/>
                </a:solidFill>
                <a:effectLst/>
                <a:latin typeface="SFMono-Regular"/>
              </a:rPr>
              <a:t>/</a:t>
            </a:r>
            <a:r>
              <a:rPr lang="en-US" b="0" i="0" dirty="0" err="1">
                <a:solidFill>
                  <a:srgbClr val="FF0000"/>
                </a:solidFill>
                <a:effectLst/>
                <a:latin typeface="SFMono-Regular"/>
              </a:rPr>
              <a:t>maxResults</a:t>
            </a:r>
            <a:r>
              <a:rPr lang="en-US" b="0" i="0" dirty="0">
                <a:solidFill>
                  <a:srgbClr val="FF0000"/>
                </a:solidFill>
                <a:effectLst/>
                <a:latin typeface="SFMono-Regular"/>
              </a:rPr>
              <a:t> specified with collection fetch; applying in memory!</a:t>
            </a:r>
            <a:endParaRPr lang="fr-FR" dirty="0">
              <a:solidFill>
                <a:srgbClr val="FF0000"/>
              </a:solidFill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ED6F9A6D-12F8-4641-A4CE-D1CDC5F876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6494" y="2390144"/>
            <a:ext cx="10919012" cy="175432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// On ne peut pas mélanger </a:t>
            </a:r>
            <a:r>
              <a:rPr kumimoji="0" lang="fr-FR" altLang="fr-FR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fetch</a:t>
            </a:r>
            <a: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et pagination, sinon on tronquerait les résultats, la BD ne le permet pas</a:t>
            </a:r>
            <a:b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// le </a:t>
            </a:r>
            <a:r>
              <a:rPr kumimoji="0" lang="fr-FR" altLang="fr-FR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OneToOne</a:t>
            </a:r>
            <a: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 ne pose pas de problème car c'est le même tuple !!</a:t>
            </a:r>
            <a:b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endParaRPr kumimoji="0" lang="fr-FR" altLang="fr-FR" b="0" i="1" u="none" strike="noStrike" cap="none" normalizeH="0" baseline="0" dirty="0">
              <a:ln>
                <a:noFill/>
              </a:ln>
              <a:solidFill>
                <a:srgbClr val="8C8C8C"/>
              </a:solidFill>
              <a:effectLst/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// @EntityGraph(attributePaths = {"</a:t>
            </a:r>
            <a:r>
              <a:rPr kumimoji="0" lang="fr-FR" altLang="fr-FR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director</a:t>
            </a:r>
            <a: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", "</a:t>
            </a:r>
            <a:r>
              <a:rPr kumimoji="0" lang="fr-FR" altLang="fr-FR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students</a:t>
            </a:r>
            <a: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", "</a:t>
            </a:r>
            <a:r>
              <a:rPr kumimoji="0" lang="fr-FR" altLang="fr-FR" b="0" i="1" u="none" strike="noStrike" cap="none" normalizeH="0" baseline="0" dirty="0" err="1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teachers</a:t>
            </a:r>
            <a: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  <a:t>"}) =&gt; </a:t>
            </a:r>
            <a:r>
              <a:rPr lang="en-US" b="0" i="0" dirty="0">
                <a:solidFill>
                  <a:srgbClr val="FF0000"/>
                </a:solidFill>
                <a:effectLst/>
                <a:latin typeface="SFMono-Regular"/>
              </a:rPr>
              <a:t>HHH000104</a:t>
            </a:r>
            <a:br>
              <a:rPr kumimoji="0" lang="fr-FR" altLang="fr-FR" b="0" i="1" u="none" strike="noStrike" cap="none" normalizeH="0" baseline="0" dirty="0">
                <a:ln>
                  <a:noFill/>
                </a:ln>
                <a:solidFill>
                  <a:srgbClr val="8C8C8C"/>
                </a:solidFill>
                <a:effectLst/>
                <a:latin typeface="Fira Code"/>
              </a:rPr>
            </a:b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@EntityGraph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(attributePaths = {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})  </a:t>
            </a:r>
            <a:r>
              <a:rPr lang="fr-FR" altLang="fr-FR" i="1" dirty="0">
                <a:solidFill>
                  <a:srgbClr val="8C8C8C"/>
                </a:solidFill>
                <a:latin typeface="Fira Code"/>
              </a:rPr>
              <a:t>=&gt; </a:t>
            </a:r>
            <a:r>
              <a:rPr lang="fr-FR" altLang="fr-FR" i="1" dirty="0" err="1">
                <a:solidFill>
                  <a:srgbClr val="8C8C8C"/>
                </a:solidFill>
                <a:latin typeface="Fira Code"/>
              </a:rPr>
              <a:t>director</a:t>
            </a:r>
            <a:r>
              <a:rPr lang="fr-FR" altLang="fr-FR" i="1" dirty="0">
                <a:solidFill>
                  <a:srgbClr val="8C8C8C"/>
                </a:solidFill>
                <a:latin typeface="Fira Code"/>
              </a:rPr>
              <a:t> est </a:t>
            </a:r>
            <a:r>
              <a:rPr lang="fr-FR" altLang="fr-FR" i="1" dirty="0" err="1">
                <a:solidFill>
                  <a:srgbClr val="8C8C8C"/>
                </a:solidFill>
                <a:latin typeface="Fira Code"/>
              </a:rPr>
              <a:t>OneToOne</a:t>
            </a:r>
            <a:b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findAll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pageable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);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3DF48DB-99B2-4292-B898-751F348378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5346" y="5118789"/>
            <a:ext cx="1559242" cy="15592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0545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Requêtes Natives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C85F6CB-B585-4331-9090-432508ECA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4672" y="3144691"/>
            <a:ext cx="8352544" cy="11695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@Query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(nativeQuery 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true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value =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"SELECT sc.id as id,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sc.location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as location, sc.name as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, di.name as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"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"FROM SCHOOL sc "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"LEFT JOIN DIRECTOR di on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sc.director_id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=di.id"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Slice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FFFF00"/>
                </a:highlight>
                <a:latin typeface="Fira Code"/>
              </a:rPr>
              <a:t>SchoolDTO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findWithProjectionNativeSlice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);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52D19003-0420-4376-B01D-F314DB9282C5}"/>
              </a:ext>
            </a:extLst>
          </p:cNvPr>
          <p:cNvSpPr txBox="1"/>
          <p:nvPr/>
        </p:nvSpPr>
        <p:spPr>
          <a:xfrm>
            <a:off x="521207" y="1544336"/>
            <a:ext cx="1058990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Pour faire des requêtes complexes non supportées par les ORM, exemple : </a:t>
            </a:r>
            <a:r>
              <a:rPr lang="fr-FR" dirty="0" err="1"/>
              <a:t>SubSelect</a:t>
            </a:r>
            <a:r>
              <a:rPr lang="fr-FR" dirty="0"/>
              <a:t> imbriqués…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Pour contrôler avec certitudes ce qui est exécuté par la couche JDBC, la requête est jouée telle quelle dans la BDD !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88453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ZoneTexte 6">
            <a:extLst>
              <a:ext uri="{FF2B5EF4-FFF2-40B4-BE49-F238E27FC236}">
                <a16:creationId xmlns:a16="http://schemas.microsoft.com/office/drawing/2014/main" id="{062428AA-28A0-4BE3-ABEA-BB3FE619BFD9}"/>
              </a:ext>
            </a:extLst>
          </p:cNvPr>
          <p:cNvSpPr txBox="1"/>
          <p:nvPr/>
        </p:nvSpPr>
        <p:spPr>
          <a:xfrm>
            <a:off x="521207" y="1544337"/>
            <a:ext cx="100658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Pourquoi faire ? Pour sortir du modèle relationnel et faire des requêtes très rapides (Dashboard etc…) </a:t>
            </a:r>
            <a:r>
              <a:rPr lang="fr-FR" dirty="0">
                <a:sym typeface="Wingdings" panose="05000000000000000000" pitchFamily="2" charset="2"/>
              </a:rPr>
              <a:t> je ne récupère </a:t>
            </a:r>
            <a:r>
              <a:rPr lang="fr-FR" u="sng" dirty="0">
                <a:solidFill>
                  <a:srgbClr val="C00000"/>
                </a:solidFill>
                <a:sym typeface="Wingdings" panose="05000000000000000000" pitchFamily="2" charset="2"/>
              </a:rPr>
              <a:t>que</a:t>
            </a:r>
            <a:r>
              <a:rPr lang="fr-FR" dirty="0">
                <a:sym typeface="Wingdings" panose="05000000000000000000" pitchFamily="2" charset="2"/>
              </a:rPr>
              <a:t> les données nécessaires</a:t>
            </a:r>
            <a:endParaRPr lang="fr-FR" dirty="0"/>
          </a:p>
          <a:p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Si requête native :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fr-FR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Sinon si JPQL :</a:t>
            </a:r>
          </a:p>
        </p:txBody>
      </p:sp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Projection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AE27994-3EC4-42E4-AA8D-B0FC3D3843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449" y="2841505"/>
            <a:ext cx="9182420" cy="116955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@Query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(nativeQuery =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true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value =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"SELECT sc.id as id,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sc.location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as location, sc.name as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, di.name as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"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"FROM SCHOOL sc "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"LEFT JOIN DIRECTOR di on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sc.director_id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=di.id"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Slice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SchoolDTO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findWithProjectionNativeSlice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);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DB3A47-2520-4A67-87B1-EC2C2ABFE1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449" y="4678728"/>
            <a:ext cx="9182420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@Query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"SELECT new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com.example.project.dao.projection.SchoolView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(sc.id,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sc.location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, sc.name, sc.director.name) "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"FROM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sc "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"LEFT JOIN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sc.director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Slice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SchoolView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findWithProjectionSlice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pageable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);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56516332-7687-4792-A362-1841A28C52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3449" y="5739768"/>
            <a:ext cx="9182420" cy="95410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@Query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"SELECT new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com.example.project.dao.projection.SchoolView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(sc.id,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sc.location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, sc.name, sc.director.name) "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"FROM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School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sc "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+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"LEFT JOIN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sc.director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List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&lt;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SchoolView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&gt;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findWithProjection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Sort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sort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);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A2A450D1-F49E-473C-8825-E4DE29F6F9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4850" y="6239011"/>
            <a:ext cx="4949952" cy="3077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jpaSchoolRepository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.findWithProjection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Sort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.</a:t>
            </a: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by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1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ASC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))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4238453D-9E09-4951-BB84-6257773F79D5}"/>
              </a:ext>
            </a:extLst>
          </p:cNvPr>
          <p:cNvCxnSpPr>
            <a:cxnSpLocks/>
          </p:cNvCxnSpPr>
          <p:nvPr/>
        </p:nvCxnSpPr>
        <p:spPr>
          <a:xfrm flipV="1">
            <a:off x="4525896" y="6409944"/>
            <a:ext cx="1148763" cy="1368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286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8" grpId="0" animBg="1"/>
      <p:bldP spid="9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Projection quelle type ?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E7111F-2279-4EAB-A005-61C41902D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207" y="2003830"/>
            <a:ext cx="5181600" cy="4524315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package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com.example.project.dao.projection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import 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com.fasterxml.jackson.annotation.</a:t>
            </a:r>
            <a:r>
              <a:rPr kumimoji="0" lang="fr-FR" altLang="fr-FR" sz="1100" b="0" i="0" u="none" strike="noStrike" cap="none" normalizeH="0" baseline="0" dirty="0" err="1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JsonProperty</a:t>
            </a:r>
            <a:r>
              <a:rPr kumimoji="0" lang="fr-FR" altLang="fr-FR" sz="11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interface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SchoolDTO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@JsonProperty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"id"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Fira Code"/>
              </a:rPr>
              <a:t>// optionnel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long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getId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();   </a:t>
            </a:r>
            <a:r>
              <a:rPr lang="fr-FR" altLang="fr-FR" sz="1400" dirty="0">
                <a:solidFill>
                  <a:schemeClr val="bg1">
                    <a:lumMod val="50000"/>
                  </a:schemeClr>
                </a:solidFill>
                <a:latin typeface="Fira Code"/>
              </a:rPr>
              <a:t>// « close »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@JsonProperty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"location"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Fira Code"/>
              </a:rPr>
              <a:t>// optionnel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getLocation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();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@JsonProperty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"name"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Fira Code"/>
              </a:rPr>
              <a:t>// optionnel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getName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();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@JsonProperty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"directorName"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latin typeface="Fira Code"/>
              </a:rPr>
              <a:t>// optionnel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getDirectorName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();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rgbClr val="080808"/>
              </a:solidFill>
              <a:effectLst/>
              <a:latin typeface="Fira Cod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@Value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"#{ target.name + ' -&gt; ' +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target.location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 }"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getNameLocation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(); </a:t>
            </a:r>
            <a:r>
              <a:rPr lang="fr-FR" altLang="fr-FR" sz="1400" dirty="0">
                <a:solidFill>
                  <a:schemeClr val="bg1">
                    <a:lumMod val="50000"/>
                  </a:schemeClr>
                </a:solidFill>
                <a:latin typeface="Fira Code"/>
              </a:rPr>
              <a:t>// « open »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}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FB82A45-F122-475A-850D-38563640E5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2003830"/>
            <a:ext cx="3224106" cy="26468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package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com.example.project.dao.projection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import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lombok.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AllArgsConstructor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import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lombok.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Getter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@Getter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@AllArgsConstructor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public class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SchoolView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{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final long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id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final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location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final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private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final 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Fira Code"/>
              </a:rPr>
              <a:t>String </a:t>
            </a:r>
            <a:r>
              <a:rPr kumimoji="0" lang="fr-FR" altLang="fr-FR" sz="14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Fira Code"/>
              </a:rPr>
              <a:t>directorName</a:t>
            </a: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;</a:t>
            </a:r>
            <a:b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4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}</a:t>
            </a:r>
            <a:endParaRPr kumimoji="0" lang="fr-FR" altLang="fr-FR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5AE8E4FF-5FC7-4631-9562-451FFF9352F6}"/>
              </a:ext>
            </a:extLst>
          </p:cNvPr>
          <p:cNvSpPr txBox="1"/>
          <p:nvPr/>
        </p:nvSpPr>
        <p:spPr>
          <a:xfrm>
            <a:off x="521207" y="1467500"/>
            <a:ext cx="110125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Si requête native (« close » &amp; « open ») 		Sinon si JPQL (« class </a:t>
            </a:r>
            <a:r>
              <a:rPr lang="fr-FR" dirty="0" err="1"/>
              <a:t>based</a:t>
            </a:r>
            <a:r>
              <a:rPr lang="fr-FR" dirty="0"/>
              <a:t> ») :</a:t>
            </a:r>
          </a:p>
        </p:txBody>
      </p:sp>
    </p:spTree>
    <p:extLst>
      <p:ext uri="{BB962C8B-B14F-4D97-AF65-F5344CB8AC3E}">
        <p14:creationId xmlns:p14="http://schemas.microsoft.com/office/powerpoint/2010/main" val="1565336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3" grpId="0" animBg="1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Récap</a:t>
            </a: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0196AF21-3ABC-496D-A6D2-0E723FF65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9341524"/>
              </p:ext>
            </p:extLst>
          </p:nvPr>
        </p:nvGraphicFramePr>
        <p:xfrm>
          <a:off x="687421" y="1284051"/>
          <a:ext cx="10551267" cy="18390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089">
                  <a:extLst>
                    <a:ext uri="{9D8B030D-6E8A-4147-A177-3AD203B41FA5}">
                      <a16:colId xmlns:a16="http://schemas.microsoft.com/office/drawing/2014/main" val="899445619"/>
                    </a:ext>
                  </a:extLst>
                </a:gridCol>
                <a:gridCol w="3517089">
                  <a:extLst>
                    <a:ext uri="{9D8B030D-6E8A-4147-A177-3AD203B41FA5}">
                      <a16:colId xmlns:a16="http://schemas.microsoft.com/office/drawing/2014/main" val="78794799"/>
                    </a:ext>
                  </a:extLst>
                </a:gridCol>
                <a:gridCol w="3517089">
                  <a:extLst>
                    <a:ext uri="{9D8B030D-6E8A-4147-A177-3AD203B41FA5}">
                      <a16:colId xmlns:a16="http://schemas.microsoft.com/office/drawing/2014/main" val="3334872547"/>
                    </a:ext>
                  </a:extLst>
                </a:gridCol>
              </a:tblGrid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Cas d’utilisation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41923"/>
                  </a:ext>
                </a:extLst>
              </a:tr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Si doute</a:t>
                      </a:r>
                    </a:p>
                    <a:p>
                      <a:pPr algn="ctr"/>
                      <a:r>
                        <a:rPr lang="fr-FR" sz="1400" dirty="0"/>
                        <a:t>Si vous ne connaissez pas bien Hibernate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xxxToOne</a:t>
                      </a:r>
                      <a:r>
                        <a:rPr lang="fr-FR" sz="1400" dirty="0"/>
                        <a:t>  / </a:t>
                      </a:r>
                      <a:r>
                        <a:rPr lang="fr-FR" sz="1400" dirty="0" err="1"/>
                        <a:t>xxxToMany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 à récupérer séparément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076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4152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Récap</a:t>
            </a: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0196AF21-3ABC-496D-A6D2-0E723FF65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718909"/>
              </p:ext>
            </p:extLst>
          </p:nvPr>
        </p:nvGraphicFramePr>
        <p:xfrm>
          <a:off x="687421" y="1284051"/>
          <a:ext cx="10551267" cy="275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089">
                  <a:extLst>
                    <a:ext uri="{9D8B030D-6E8A-4147-A177-3AD203B41FA5}">
                      <a16:colId xmlns:a16="http://schemas.microsoft.com/office/drawing/2014/main" val="899445619"/>
                    </a:ext>
                  </a:extLst>
                </a:gridCol>
                <a:gridCol w="3517089">
                  <a:extLst>
                    <a:ext uri="{9D8B030D-6E8A-4147-A177-3AD203B41FA5}">
                      <a16:colId xmlns:a16="http://schemas.microsoft.com/office/drawing/2014/main" val="78794799"/>
                    </a:ext>
                  </a:extLst>
                </a:gridCol>
                <a:gridCol w="3517089">
                  <a:extLst>
                    <a:ext uri="{9D8B030D-6E8A-4147-A177-3AD203B41FA5}">
                      <a16:colId xmlns:a16="http://schemas.microsoft.com/office/drawing/2014/main" val="3334872547"/>
                    </a:ext>
                  </a:extLst>
                </a:gridCol>
              </a:tblGrid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Cas d’utilisation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41923"/>
                  </a:ext>
                </a:extLst>
              </a:tr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Si doute</a:t>
                      </a:r>
                    </a:p>
                    <a:p>
                      <a:pPr algn="ctr"/>
                      <a:r>
                        <a:rPr lang="fr-FR" sz="1400" dirty="0"/>
                        <a:t>Si vous ne connaissez pas bien Hibernate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xxxToOne</a:t>
                      </a:r>
                      <a:r>
                        <a:rPr lang="fr-FR" sz="1400" dirty="0"/>
                        <a:t>  / </a:t>
                      </a:r>
                      <a:r>
                        <a:rPr lang="fr-FR" sz="1400" dirty="0" err="1"/>
                        <a:t>xxxToMany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 à récupérer séparément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076754"/>
                  </a:ext>
                </a:extLst>
              </a:tr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Pour récupérer la grappe complète d’une seule entité racine ou avec un filtre (quelques 10aines)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xxxToOne</a:t>
                      </a:r>
                      <a:r>
                        <a:rPr lang="fr-FR" sz="1400" dirty="0"/>
                        <a:t> / </a:t>
                      </a:r>
                      <a:r>
                        <a:rPr lang="fr-FR" sz="1400" dirty="0" err="1"/>
                        <a:t>xxxToMany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JPQL + FETCH / 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Fira Code"/>
                        </a:rPr>
                        <a:t>@EntityGraph</a:t>
                      </a:r>
                      <a:endParaRPr kumimoji="0" lang="fr-FR" alt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3343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37472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Récap</a:t>
            </a: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0196AF21-3ABC-496D-A6D2-0E723FF65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31356"/>
              </p:ext>
            </p:extLst>
          </p:nvPr>
        </p:nvGraphicFramePr>
        <p:xfrm>
          <a:off x="687421" y="1284051"/>
          <a:ext cx="10551267" cy="3703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089">
                  <a:extLst>
                    <a:ext uri="{9D8B030D-6E8A-4147-A177-3AD203B41FA5}">
                      <a16:colId xmlns:a16="http://schemas.microsoft.com/office/drawing/2014/main" val="899445619"/>
                    </a:ext>
                  </a:extLst>
                </a:gridCol>
                <a:gridCol w="3517089">
                  <a:extLst>
                    <a:ext uri="{9D8B030D-6E8A-4147-A177-3AD203B41FA5}">
                      <a16:colId xmlns:a16="http://schemas.microsoft.com/office/drawing/2014/main" val="78794799"/>
                    </a:ext>
                  </a:extLst>
                </a:gridCol>
                <a:gridCol w="3517089">
                  <a:extLst>
                    <a:ext uri="{9D8B030D-6E8A-4147-A177-3AD203B41FA5}">
                      <a16:colId xmlns:a16="http://schemas.microsoft.com/office/drawing/2014/main" val="3334872547"/>
                    </a:ext>
                  </a:extLst>
                </a:gridCol>
              </a:tblGrid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Cas d’utilisation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41923"/>
                  </a:ext>
                </a:extLst>
              </a:tr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Si doute</a:t>
                      </a:r>
                    </a:p>
                    <a:p>
                      <a:pPr algn="ctr"/>
                      <a:r>
                        <a:rPr lang="fr-FR" sz="1400" dirty="0"/>
                        <a:t>Si vous ne connaissez pas bien Hibernate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xxxToOne</a:t>
                      </a:r>
                      <a:r>
                        <a:rPr lang="fr-FR" sz="1400" dirty="0"/>
                        <a:t>  / </a:t>
                      </a:r>
                      <a:r>
                        <a:rPr lang="fr-FR" sz="1400" dirty="0" err="1"/>
                        <a:t>xxxToMany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 à récupérer séparément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076754"/>
                  </a:ext>
                </a:extLst>
              </a:tr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Pour récupérer la grappe complète d’une seule entité racine ou avec un filtre (quelques 10aines)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xxxToOne</a:t>
                      </a:r>
                      <a:r>
                        <a:rPr lang="fr-FR" sz="1400" dirty="0"/>
                        <a:t> / </a:t>
                      </a:r>
                      <a:r>
                        <a:rPr lang="fr-FR" sz="1400" dirty="0" err="1"/>
                        <a:t>xxxToMany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JPQL + FETCH / 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Fira Code"/>
                        </a:rPr>
                        <a:t>@EntityGraph</a:t>
                      </a:r>
                      <a:endParaRPr kumimoji="0" lang="fr-FR" alt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334314"/>
                  </a:ext>
                </a:extLst>
              </a:tr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Pagination avec quelques entités dans la grappe</a:t>
                      </a:r>
                    </a:p>
                    <a:p>
                      <a:pPr algn="ctr"/>
                      <a:r>
                        <a:rPr lang="fr-FR" sz="1400" dirty="0"/>
                        <a:t>(pas besoin d’optimiser)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xxxToOne</a:t>
                      </a:r>
                      <a:endParaRPr lang="fr-FR" sz="1400" dirty="0"/>
                    </a:p>
                    <a:p>
                      <a:pPr algn="ctr"/>
                      <a:endParaRPr lang="fr-FR" sz="1400" dirty="0"/>
                    </a:p>
                    <a:p>
                      <a:pPr algn="ctr"/>
                      <a:endParaRPr lang="fr-FR" sz="1400" dirty="0"/>
                    </a:p>
                    <a:p>
                      <a:pPr algn="ctr"/>
                      <a:r>
                        <a:rPr lang="fr-FR" sz="1400" dirty="0" err="1"/>
                        <a:t>xxxToMany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Fira Code"/>
                        </a:rPr>
                        <a:t>@EntityGraph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Fira Code"/>
                        </a:rPr>
                        <a:t>(attributePaths = {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67D17"/>
                          </a:solidFill>
                          <a:effectLst/>
                          <a:latin typeface="Fira Code"/>
                        </a:rPr>
                        <a:t>"xxx"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Fira Code"/>
                        </a:rPr>
                        <a:t>})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Fira Code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/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Fira Code"/>
                        </a:rPr>
                        <a:t>@BatchSize 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ira Code"/>
                        </a:rPr>
                        <a:t>(x = taille page)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8198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3862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Récap</a:t>
            </a:r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id="{0196AF21-3ABC-496D-A6D2-0E723FF65B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7725693"/>
              </p:ext>
            </p:extLst>
          </p:nvPr>
        </p:nvGraphicFramePr>
        <p:xfrm>
          <a:off x="687421" y="1284051"/>
          <a:ext cx="10551267" cy="52847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7089">
                  <a:extLst>
                    <a:ext uri="{9D8B030D-6E8A-4147-A177-3AD203B41FA5}">
                      <a16:colId xmlns:a16="http://schemas.microsoft.com/office/drawing/2014/main" val="899445619"/>
                    </a:ext>
                  </a:extLst>
                </a:gridCol>
                <a:gridCol w="3517089">
                  <a:extLst>
                    <a:ext uri="{9D8B030D-6E8A-4147-A177-3AD203B41FA5}">
                      <a16:colId xmlns:a16="http://schemas.microsoft.com/office/drawing/2014/main" val="78794799"/>
                    </a:ext>
                  </a:extLst>
                </a:gridCol>
                <a:gridCol w="3517089">
                  <a:extLst>
                    <a:ext uri="{9D8B030D-6E8A-4147-A177-3AD203B41FA5}">
                      <a16:colId xmlns:a16="http://schemas.microsoft.com/office/drawing/2014/main" val="3334872547"/>
                    </a:ext>
                  </a:extLst>
                </a:gridCol>
              </a:tblGrid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Cas d’utilisation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Relation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Solution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2541923"/>
                  </a:ext>
                </a:extLst>
              </a:tr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Si doute</a:t>
                      </a:r>
                    </a:p>
                    <a:p>
                      <a:pPr algn="ctr"/>
                      <a:r>
                        <a:rPr lang="fr-FR" sz="1400" dirty="0"/>
                        <a:t>Si vous ne connaissez pas bien Hibernate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xxxToOne</a:t>
                      </a:r>
                      <a:r>
                        <a:rPr lang="fr-FR" sz="1400" dirty="0"/>
                        <a:t>  / </a:t>
                      </a:r>
                      <a:r>
                        <a:rPr lang="fr-FR" sz="1400" dirty="0" err="1"/>
                        <a:t>xxxToMany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 à récupérer séparément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07076754"/>
                  </a:ext>
                </a:extLst>
              </a:tr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Pour récupérer la grappe complète d’une seule entité racine ou avec un filtre (quelques 10aines)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xxxToOne</a:t>
                      </a:r>
                      <a:r>
                        <a:rPr lang="fr-FR" sz="1400" dirty="0"/>
                        <a:t> / </a:t>
                      </a:r>
                      <a:r>
                        <a:rPr lang="fr-FR" sz="1400" dirty="0" err="1"/>
                        <a:t>xxxToMany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JPQL + FETCH / 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Fira Code"/>
                        </a:rPr>
                        <a:t>@EntityGraph</a:t>
                      </a:r>
                      <a:endParaRPr kumimoji="0" lang="fr-FR" alt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334314"/>
                  </a:ext>
                </a:extLst>
              </a:tr>
              <a:tr h="919512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Pagination avec quelques entités dans la grappe</a:t>
                      </a:r>
                    </a:p>
                    <a:p>
                      <a:pPr algn="ctr"/>
                      <a:r>
                        <a:rPr lang="fr-FR" sz="1400" dirty="0"/>
                        <a:t>(pas besoin d’optimiser)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 err="1"/>
                        <a:t>xxxToOne</a:t>
                      </a:r>
                      <a:endParaRPr lang="fr-FR" sz="1400" dirty="0"/>
                    </a:p>
                    <a:p>
                      <a:pPr algn="ctr"/>
                      <a:endParaRPr lang="fr-FR" sz="1400" dirty="0"/>
                    </a:p>
                    <a:p>
                      <a:pPr algn="ctr"/>
                      <a:endParaRPr lang="fr-FR" sz="1400" dirty="0"/>
                    </a:p>
                    <a:p>
                      <a:pPr algn="ctr"/>
                      <a:r>
                        <a:rPr lang="fr-FR" sz="1400" dirty="0" err="1"/>
                        <a:t>xxxToMany</a:t>
                      </a:r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Fira Code"/>
                        </a:rPr>
                        <a:t>@EntityGraph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Fira Code"/>
                        </a:rPr>
                        <a:t>(attributePaths = {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67D17"/>
                          </a:solidFill>
                          <a:effectLst/>
                          <a:latin typeface="Fira Code"/>
                        </a:rPr>
                        <a:t>"xxx"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80808"/>
                          </a:solidFill>
                          <a:effectLst/>
                          <a:latin typeface="Fira Code"/>
                        </a:rPr>
                        <a:t>})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rgbClr val="080808"/>
                        </a:solidFill>
                        <a:effectLst/>
                        <a:latin typeface="Fira Code"/>
                      </a:endParaRP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fr-FR" altLang="fr-F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/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9E880D"/>
                          </a:solidFill>
                          <a:effectLst/>
                          <a:latin typeface="Fira Code"/>
                        </a:rPr>
                        <a:t>@BatchSize </a:t>
                      </a:r>
                      <a:r>
                        <a:rPr kumimoji="0" lang="fr-FR" altLang="fr-F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Fira Code"/>
                        </a:rPr>
                        <a:t>(x = taille page)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06819831"/>
                  </a:ext>
                </a:extLst>
              </a:tr>
              <a:tr h="1581374"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Dashboard</a:t>
                      </a:r>
                    </a:p>
                    <a:p>
                      <a:pPr algn="ctr"/>
                      <a:endParaRPr lang="fr-FR" sz="14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400" dirty="0"/>
                        <a:t>Pagination avancée</a:t>
                      </a:r>
                    </a:p>
                    <a:p>
                      <a:pPr algn="ctr"/>
                      <a:r>
                        <a:rPr lang="fr-FR" sz="1400" dirty="0"/>
                        <a:t>(tape dans toutes les tables, &gt; 6 jointures)</a:t>
                      </a:r>
                    </a:p>
                    <a:p>
                      <a:pPr algn="ctr"/>
                      <a:endParaRPr lang="fr-FR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N/A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400" dirty="0"/>
                        <a:t>Projection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926969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0033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Properties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EE861D95-CFD3-450C-9442-EAE4FF4FC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5042" y="1608329"/>
            <a:ext cx="10961915" cy="258532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spring.jpa.hibernate.ddl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-auto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=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validate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    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Fira Code"/>
              </a:rPr>
              <a:t>// pratique pour vérifier que le schéma correspond bien aux entités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déclarées, ne jamais mettre « none »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rgbClr val="083080"/>
              </a:solidFill>
              <a:effectLst/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spring.jpa.open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-in-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view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=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false     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Fira Code"/>
              </a:rPr>
              <a:t>// ne permet pas l’accès à l’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B050"/>
                </a:solidFill>
                <a:effectLst/>
                <a:latin typeface="Fira Code"/>
              </a:rPr>
              <a:t>entity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Fira Code"/>
              </a:rPr>
              <a:t> manager en dehors du repository (n+1)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altLang="fr-FR" b="0" i="0" u="none" strike="noStrike" cap="none" normalizeH="0" baseline="0" dirty="0">
              <a:ln>
                <a:noFill/>
              </a:ln>
              <a:solidFill>
                <a:srgbClr val="083080"/>
              </a:solidFill>
              <a:effectLst/>
              <a:latin typeface="Fira Cod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B050"/>
                </a:solidFill>
                <a:effectLst/>
                <a:latin typeface="Fira Code"/>
              </a:rPr>
              <a:t>// affiche les requêtes avec formatage si besoin,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Fira Code"/>
              </a:rPr>
              <a:t> ne jamais activer en dehors du dev !!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rgbClr val="083080"/>
              </a:solidFill>
              <a:effectLst/>
              <a:latin typeface="Fira Code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spring.jpa.show-sql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=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true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Fira Code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spring.jpa.properties.hibernate.format_sql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=</a:t>
            </a:r>
            <a:r>
              <a:rPr lang="fr-FR" altLang="fr-FR" dirty="0" err="1">
                <a:solidFill>
                  <a:srgbClr val="067D17"/>
                </a:solidFill>
                <a:latin typeface="Fira Code"/>
              </a:rPr>
              <a:t>true</a:t>
            </a:r>
            <a:endParaRPr kumimoji="0" lang="fr-FR" altLang="fr-FR" b="0" i="0" u="none" strike="noStrike" cap="none" normalizeH="0" baseline="0" dirty="0">
              <a:ln>
                <a:noFill/>
              </a:ln>
              <a:solidFill>
                <a:srgbClr val="067D17"/>
              </a:solidFill>
              <a:effectLst/>
              <a:latin typeface="Fira Code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800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logging.level.org.hibernate.type.descriptor.sql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=</a:t>
            </a:r>
            <a:r>
              <a:rPr kumimoji="0" lang="fr-FR" altLang="fr-FR" sz="1800" b="0" i="0" u="none" strike="noStrike" cap="none" normalizeH="0" baseline="0" dirty="0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trace</a:t>
            </a:r>
            <a:endParaRPr kumimoji="0" lang="fr-FR" altLang="fr-FR" sz="4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2951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Contrôle du schéma</a:t>
            </a:r>
          </a:p>
        </p:txBody>
      </p:sp>
      <p:sp>
        <p:nvSpPr>
          <p:cNvPr id="2" name="ZoneTexte 1"/>
          <p:cNvSpPr txBox="1"/>
          <p:nvPr/>
        </p:nvSpPr>
        <p:spPr>
          <a:xfrm>
            <a:off x="521207" y="1228267"/>
            <a:ext cx="109619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fr-FR" dirty="0"/>
              <a:t>Création des indexes dans le modèle sur les champs où des filtres sont faits !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0D7C881-1033-4C95-A3F5-721F77D326D7}"/>
              </a:ext>
            </a:extLst>
          </p:cNvPr>
          <p:cNvSpPr txBox="1"/>
          <p:nvPr/>
        </p:nvSpPr>
        <p:spPr>
          <a:xfrm>
            <a:off x="743430" y="1737730"/>
            <a:ext cx="4097511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spring.jpa.hibernate.ddl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3080"/>
                </a:solidFill>
                <a:effectLst/>
                <a:latin typeface="Fira Code"/>
              </a:rPr>
              <a:t>-auto</a:t>
            </a:r>
            <a:r>
              <a:rPr kumimoji="0" lang="fr-FR" altLang="fr-FR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=</a:t>
            </a:r>
            <a:r>
              <a:rPr kumimoji="0" lang="fr-FR" altLang="fr-FR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Fira Code"/>
              </a:rPr>
              <a:t>validate</a:t>
            </a:r>
            <a:endParaRPr lang="fr-FR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15A37DB-C73C-4F48-A6B3-8B848B9F79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430" y="2318249"/>
            <a:ext cx="7595673" cy="14773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@Entity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@Getter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@Setter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@Table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"SCHOOL"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indexes = {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director_school_index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columnList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director_id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name_school_index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columnList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name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),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       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9E880D"/>
                </a:solidFill>
                <a:effectLst/>
                <a:latin typeface="Fira Code"/>
              </a:rPr>
              <a:t>@Index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(name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location_school_index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, </a:t>
            </a:r>
            <a:r>
              <a:rPr kumimoji="0" lang="fr-FR" altLang="fr-FR" sz="1000" b="0" i="0" u="none" strike="noStrike" cap="none" normalizeH="0" baseline="0" dirty="0" err="1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columnList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= 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Fira Code"/>
              </a:rPr>
              <a:t>"location"</a:t>
            </a: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)</a:t>
            </a:r>
            <a:b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</a:br>
            <a:r>
              <a:rPr kumimoji="0" lang="fr-FR" altLang="fr-FR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Fira Code"/>
              </a:rPr>
              <a:t>        })</a:t>
            </a:r>
            <a:endParaRPr kumimoji="0" lang="fr-FR" altLang="fr-F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981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7783344" cy="640080"/>
          </a:xfrm>
        </p:spPr>
        <p:txBody>
          <a:bodyPr rtlCol="0">
            <a:normAutofit/>
          </a:bodyPr>
          <a:lstStyle/>
          <a:p>
            <a:pPr rtl="0"/>
            <a:r>
              <a:rPr lang="fr-FR" noProof="1">
                <a:latin typeface="Segoe UI Light" panose="020B0502040204020203" pitchFamily="34" charset="0"/>
                <a:cs typeface="Segoe UI Light" panose="020B0502040204020203" pitchFamily="34" charset="0"/>
              </a:rPr>
              <a:t>Questions ?</a:t>
            </a:r>
          </a:p>
        </p:txBody>
      </p:sp>
      <p:pic>
        <p:nvPicPr>
          <p:cNvPr id="1026" name="Picture 2" descr="La comédie «lourde» à la française, un cinéma social | Slate.fr">
            <a:extLst>
              <a:ext uri="{FF2B5EF4-FFF2-40B4-BE49-F238E27FC236}">
                <a16:creationId xmlns:a16="http://schemas.microsoft.com/office/drawing/2014/main" id="{4625B0D1-5AEC-4614-BD48-24C59880CB52}"/>
              </a:ext>
            </a:extLst>
          </p:cNvPr>
          <p:cNvPicPr>
            <a:picLocks noChangeAspect="1" noChangeArrowheads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9341" y="1709737"/>
            <a:ext cx="10953318" cy="44624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9557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DocBienvenu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39_TF10001108" id="{0F4DAE25-207A-47CE-9E2B-3598C2DA80C7}" vid="{5BACCDA3-61AD-4862-913E-13CB4EF92D9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8a52e8c320b9a064ae3583ae3861c9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8020cb39231a0945110f9cd888b521a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FD7FC771-7DFE-49DA-B577-71181BFBCB2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950072C5-DDE0-4258-BA7A-4D4B80DFA632}">
  <ds:schemaRefs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infopath/2007/PartnerControls"/>
    <ds:schemaRef ds:uri="16c05727-aa75-4e4a-9b5f-8a80a1165891"/>
    <ds:schemaRef ds:uri="71af3243-3dd4-4a8d-8c0d-dd76da1f02a5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7EE8C63A-4744-4DE4-BB49-0FF0B5375C6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{A11A8289-2BB9-41B2-8D3B-8C60102848CA}tf10001108</Template>
  <TotalTime>0</TotalTime>
  <Words>4138</Words>
  <Application>Microsoft Office PowerPoint</Application>
  <PresentationFormat>Grand écran</PresentationFormat>
  <Paragraphs>438</Paragraphs>
  <Slides>33</Slides>
  <Notes>32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42" baseType="lpstr">
      <vt:lpstr>Arial</vt:lpstr>
      <vt:lpstr>Calibri</vt:lpstr>
      <vt:lpstr>Courier New</vt:lpstr>
      <vt:lpstr>Fira Code</vt:lpstr>
      <vt:lpstr>Segoe UI</vt:lpstr>
      <vt:lpstr>Segoe UI Light</vt:lpstr>
      <vt:lpstr>SFMono-Regular</vt:lpstr>
      <vt:lpstr>Wingdings</vt:lpstr>
      <vt:lpstr>DocBienvenue</vt:lpstr>
      <vt:lpstr>Spring Data JPA Hibernate  La belle vie ;) </vt:lpstr>
      <vt:lpstr>Spring Boot / Spring Data</vt:lpstr>
      <vt:lpstr>Le but de cette présentation</vt:lpstr>
      <vt:lpstr>Notre modèle de démo qui va nous poser des problèmes !</vt:lpstr>
      <vt:lpstr>Notre modèle de démo : MCD</vt:lpstr>
      <vt:lpstr>Sérialisation JSON / « grappe » complète</vt:lpstr>
      <vt:lpstr>One to One / Many to One</vt:lpstr>
      <vt:lpstr>One to Many / Many to One</vt:lpstr>
      <vt:lpstr>Many to Many / n – n / bidirectionnelle</vt:lpstr>
      <vt:lpstr>Jointure Eager ou Lazy ?</vt:lpstr>
      <vt:lpstr>Jointures par défaut pour récupérer l’arbre de données </vt:lpstr>
      <vt:lpstr>N+1 ?? Exemple avec une sortie de Controller &amp; Proxy Entité </vt:lpstr>
      <vt:lpstr>N+1 Quand ?</vt:lpstr>
      <vt:lpstr>Entity Manager et sa portée / transaction</vt:lpstr>
      <vt:lpstr>Jointures ? Dans quel cas ?</vt:lpstr>
      <vt:lpstr>Si l’on veut récupérer tout l’arbre de données</vt:lpstr>
      <vt:lpstr>@BatchSize(size = x), mais consomme un peu plus de mémoire/cpu</vt:lpstr>
      <vt:lpstr>One Shot !  Produit cartésien</vt:lpstr>
      <vt:lpstr>Temps de réponse</vt:lpstr>
      <vt:lpstr>Erreur classique !</vt:lpstr>
      <vt:lpstr>Pagination</vt:lpstr>
      <vt:lpstr>Pagination Infinie</vt:lpstr>
      <vt:lpstr>Erreur de pagination : Hibernate favorise la consistance des données</vt:lpstr>
      <vt:lpstr>Requêtes Natives</vt:lpstr>
      <vt:lpstr>Projection</vt:lpstr>
      <vt:lpstr>Projection quelle type ?</vt:lpstr>
      <vt:lpstr>Récap</vt:lpstr>
      <vt:lpstr>Récap</vt:lpstr>
      <vt:lpstr>Récap</vt:lpstr>
      <vt:lpstr>Récap</vt:lpstr>
      <vt:lpstr>Properties</vt:lpstr>
      <vt:lpstr>Contrôle du schéma</vt:lpstr>
      <vt:lpstr>Questions 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2020-03-02T19:13:17Z</dcterms:created>
  <dcterms:modified xsi:type="dcterms:W3CDTF">2021-06-21T07:10:07Z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