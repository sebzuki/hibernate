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39"/>
  </p:notesMasterIdLst>
  <p:handoutMasterIdLst>
    <p:handoutMasterId r:id="rId40"/>
  </p:handoutMasterIdLst>
  <p:sldIdLst>
    <p:sldId id="256" r:id="rId5"/>
    <p:sldId id="279" r:id="rId6"/>
    <p:sldId id="328" r:id="rId7"/>
    <p:sldId id="300" r:id="rId8"/>
    <p:sldId id="301" r:id="rId9"/>
    <p:sldId id="321" r:id="rId10"/>
    <p:sldId id="292" r:id="rId11"/>
    <p:sldId id="293" r:id="rId12"/>
    <p:sldId id="303" r:id="rId13"/>
    <p:sldId id="295" r:id="rId14"/>
    <p:sldId id="307" r:id="rId15"/>
    <p:sldId id="323" r:id="rId16"/>
    <p:sldId id="322" r:id="rId17"/>
    <p:sldId id="312" r:id="rId18"/>
    <p:sldId id="308" r:id="rId19"/>
    <p:sldId id="309" r:id="rId20"/>
    <p:sldId id="311" r:id="rId21"/>
    <p:sldId id="310" r:id="rId22"/>
    <p:sldId id="305" r:id="rId23"/>
    <p:sldId id="329" r:id="rId24"/>
    <p:sldId id="315" r:id="rId25"/>
    <p:sldId id="317" r:id="rId26"/>
    <p:sldId id="320" r:id="rId27"/>
    <p:sldId id="313" r:id="rId28"/>
    <p:sldId id="314" r:id="rId29"/>
    <p:sldId id="318" r:id="rId30"/>
    <p:sldId id="319" r:id="rId31"/>
    <p:sldId id="324" r:id="rId32"/>
    <p:sldId id="325" r:id="rId33"/>
    <p:sldId id="326" r:id="rId34"/>
    <p:sldId id="306" r:id="rId35"/>
    <p:sldId id="299" r:id="rId36"/>
    <p:sldId id="330" r:id="rId37"/>
    <p:sldId id="327" r:id="rId38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ienvenue" id="{E75E278A-FF0E-49A4-B170-79828D63BBAD}">
          <p14:sldIdLst>
            <p14:sldId id="256"/>
            <p14:sldId id="279"/>
            <p14:sldId id="328"/>
            <p14:sldId id="300"/>
            <p14:sldId id="301"/>
            <p14:sldId id="321"/>
            <p14:sldId id="292"/>
            <p14:sldId id="293"/>
            <p14:sldId id="303"/>
            <p14:sldId id="295"/>
            <p14:sldId id="307"/>
            <p14:sldId id="323"/>
            <p14:sldId id="322"/>
            <p14:sldId id="312"/>
            <p14:sldId id="308"/>
            <p14:sldId id="309"/>
            <p14:sldId id="311"/>
            <p14:sldId id="310"/>
            <p14:sldId id="305"/>
            <p14:sldId id="329"/>
            <p14:sldId id="315"/>
            <p14:sldId id="317"/>
            <p14:sldId id="320"/>
            <p14:sldId id="313"/>
            <p14:sldId id="314"/>
            <p14:sldId id="318"/>
            <p14:sldId id="319"/>
            <p14:sldId id="324"/>
            <p14:sldId id="325"/>
            <p14:sldId id="326"/>
            <p14:sldId id="306"/>
            <p14:sldId id="299"/>
            <p14:sldId id="330"/>
            <p14:sldId id="32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D462F"/>
    <a:srgbClr val="404040"/>
    <a:srgbClr val="FF9B45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98" autoAdjust="0"/>
    <p:restoredTop sz="82663" autoAdjust="0"/>
  </p:normalViewPr>
  <p:slideViewPr>
    <p:cSldViewPr snapToGrid="0">
      <p:cViewPr varScale="1">
        <p:scale>
          <a:sx n="134" d="100"/>
          <a:sy n="134" d="100"/>
        </p:scale>
        <p:origin x="732" y="12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7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C80F580-3B6A-44CD-9A1E-E890016126F8}" type="datetime1">
              <a:rPr lang="fr-FR" smtClean="0"/>
              <a:t>21/06/2021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DF8ED89-FBF4-48E3-B6C6-C071DA98F802}" type="datetime1">
              <a:rPr lang="fr-FR" noProof="1" dirty="0" smtClean="0"/>
              <a:t>21/06/2021</a:t>
            </a:fld>
            <a:endParaRPr lang="fr-FR" noProof="1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1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1"/>
              <a:t>Modifiez les styles du texte du masque</a:t>
            </a:r>
          </a:p>
          <a:p>
            <a:pPr lvl="1" rtl="0"/>
            <a:r>
              <a:rPr lang="fr-FR" noProof="1"/>
              <a:t>Deuxième niveau</a:t>
            </a:r>
          </a:p>
          <a:p>
            <a:pPr lvl="2" rtl="0"/>
            <a:r>
              <a:rPr lang="fr-FR" noProof="1"/>
              <a:t>Troisième niveau</a:t>
            </a:r>
          </a:p>
          <a:p>
            <a:pPr lvl="3" rtl="0"/>
            <a:r>
              <a:rPr lang="fr-FR" noProof="1"/>
              <a:t>Quatrième niveau</a:t>
            </a:r>
          </a:p>
          <a:p>
            <a:pPr lvl="4" rtl="0"/>
            <a:r>
              <a:rPr lang="fr-FR" noProof="1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fr-FR" noProof="1" dirty="0" smtClean="0"/>
              <a:t>‹N°›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78950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976932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27465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439472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Identification des relations problématiques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090852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92340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767610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Exemple : je récupère une liste d’écoles par le nom ou la location, 500 résultats, 500 select unitaires vers la table « director »  !</a:t>
            </a:r>
          </a:p>
          <a:p>
            <a:r>
              <a:rPr lang="fr-FR" noProof="1"/>
              <a:t>Eager ne veut pas dire que les entités seront récupérées correctement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184049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006337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On va parler du problème du N+1 en détail avec un exemple classique de sortie d’entité via un </a:t>
            </a:r>
            <a:r>
              <a:rPr lang="fr-FR" dirty="0" err="1"/>
              <a:t>controller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56282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Une évolution de la base de données change immédiatement le contrat d’interface </a:t>
            </a:r>
            <a:r>
              <a:rPr lang="fr-FR" noProof="1">
                <a:sym typeface="Wingdings" panose="05000000000000000000" pitchFamily="2" charset="2"/>
              </a:rPr>
              <a:t> </a:t>
            </a:r>
            <a:r>
              <a:rPr lang="fr-FR" noProof="1"/>
              <a:t>coucou les clients : surprise </a:t>
            </a:r>
            <a:r>
              <a:rPr lang="fr-FR" noProof="1">
                <a:sym typeface="Wingdings" panose="05000000000000000000" pitchFamily="2" charset="2"/>
              </a:rPr>
              <a:t></a:t>
            </a:r>
          </a:p>
          <a:p>
            <a:r>
              <a:rPr lang="fr-FR" noProof="1">
                <a:sym typeface="Wingdings" panose="05000000000000000000" pitchFamily="2" charset="2"/>
              </a:rPr>
              <a:t>Obligation d’ajouter des annotations Jackson partout, qui ne conviendront de toute façon pas à tous les cas d’utilisation de votre controller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901821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Vous aurez un erreur type qui vons indiquera si la session est fermée : </a:t>
            </a:r>
            <a:r>
              <a:rPr lang="en-US" noProof="1"/>
              <a:t>failed to lazily initialize a collection of role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65584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485620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Defaut : fonctionne très bien sur la récupération d’une seule entité, mais dès lors que l’on veut récupérer une liste avec ou sans pagination, nous arons bcp de N+1, Mais même sur une seule entite, on peut faire mieux</a:t>
            </a:r>
          </a:p>
          <a:p>
            <a:r>
              <a:rPr lang="fr-FR" noProof="1"/>
              <a:t>En plusieurs fois : finalement ce que l’on veut c’est pouvoir faire notre récupération de données en utilisant le mapping relationnel de nos entités et non le faire à la main</a:t>
            </a:r>
          </a:p>
          <a:p>
            <a:r>
              <a:rPr lang="fr-FR" noProof="1"/>
              <a:t>BatchSize : On va réduire le nombre de requête et on en aura autant que dans le cas par défaut mais quelque soit le nombre d’entités que l’on récupère (pour peu qu’il soit inférieur à x)</a:t>
            </a:r>
          </a:p>
          <a:p>
            <a:r>
              <a:rPr lang="fr-FR" noProof="1"/>
              <a:t>SubSelect : On aura de façon certaine une seule requête par relation, car au lieu d’avoir where id in (…) on aura un id in (subselect)</a:t>
            </a:r>
          </a:p>
          <a:p>
            <a:r>
              <a:rPr lang="fr-FR" noProof="1"/>
              <a:t>FETCH : il est déclaratif lors de la requête, donc pas dans le code c’est pour cette raison que l’ incompatibilité est en vert </a:t>
            </a:r>
            <a:r>
              <a:rPr lang="fr-FR" noProof="1">
                <a:sym typeface="Wingdings" panose="05000000000000000000" pitchFamily="2" charset="2"/>
              </a:rPr>
              <a:t></a:t>
            </a:r>
            <a:endParaRPr lang="fr-FR" noProof="1"/>
          </a:p>
          <a:p>
            <a:r>
              <a:rPr lang="fr-FR" noProof="1"/>
              <a:t>JPQL : Java Persistence Query Langage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69033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Pas de BatchSize sur les relations OneToOne !!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85458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8049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423131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251595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Avec les batch size = taille de page sur les entités xxxToMany, on est pas mal mais on peut faire encore un peu mieux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758961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1"/>
              <a:t>select count(school0_.id) as col_0_0_ from school school0_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7400654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Maintenant on passe un peu aux choses sérieuses </a:t>
            </a:r>
            <a:r>
              <a:rPr lang="fr-FR" dirty="0">
                <a:sym typeface="Wingdings" panose="05000000000000000000" pitchFamily="2" charset="2"/>
              </a:rPr>
              <a:t></a:t>
            </a:r>
          </a:p>
          <a:p>
            <a:r>
              <a:rPr lang="fr-FR" dirty="0">
                <a:sym typeface="Wingdings" panose="05000000000000000000" pitchFamily="2" charset="2"/>
              </a:rPr>
              <a:t>Tout à l’heure j’ai dit que FETCHER les données n’était pas compatible avec la pagination !</a:t>
            </a:r>
          </a:p>
          <a:p>
            <a:r>
              <a:rPr lang="fr-FR" dirty="0">
                <a:sym typeface="Wingdings" panose="05000000000000000000" pitchFamily="2" charset="2"/>
              </a:rPr>
              <a:t>Avec une seule requête je peux faire planter le serveur !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smtClean="0"/>
              <a:t>23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448088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On ne peut pas utiliser une entité pour récupérer le résultat, mais le mapping sera fait automatiquement par le système via une projection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6854824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49203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résultat est le même dans les deux cas, je récupère un object ou une liste d’objets remplis avec le résultat de la requete</a:t>
            </a:r>
          </a:p>
          <a:p>
            <a:r>
              <a:rPr lang="fr-FR" noProof="1"/>
              <a:t>Petite note sur le fait que ces objects peuvent sortir des controllers car ils ne sont pas liés au modèle de données et correspondent à un besoin métier précis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632896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5129739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01577576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Dès que vous souhaitez récupérer des listes très grandes (avec pagination de préférence), utiliser les annotations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en plus ça reste copmpatible avec le cas précédent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0676244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469494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premier properties est utile, j’en reparle dans le slide suivant !</a:t>
            </a:r>
          </a:p>
          <a:p>
            <a:r>
              <a:rPr lang="fr-FR" noProof="1"/>
              <a:t>Open in view va vous permettre de détecter plus facilement les N+1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984571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3590222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6864889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594538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cxnSp>
        <p:nvCxnSpPr>
          <p:cNvPr id="12" name="Connecteur droit 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 du masque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7DF3CA4B-903E-431D-AF93-2AD02E04DE8A}" type="datetime1">
              <a:rPr lang="fr-FR" noProof="0" smtClean="0"/>
              <a:t>21/06/2021</a:t>
            </a:fld>
            <a:endParaRPr lang="fr-FR" noProof="0"/>
          </a:p>
        </p:txBody>
      </p:sp>
      <p:sp>
        <p:nvSpPr>
          <p:cNvPr id="7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10" name="Rectangle 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802CD4F2-526B-4131-B91B-856C46007FC5}" type="datetime1">
              <a:rPr lang="fr-FR" noProof="0" smtClean="0"/>
              <a:t>21/06/2021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  <p:cxnSp>
        <p:nvCxnSpPr>
          <p:cNvPr id="8" name="Connecteur droit 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hyperlink" Target="https://docs.jboss.org/hibernate/stable/orm/userguide/html_single/Hibernate_User_Guide.html#fetching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bzuki/hibernate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 1"/>
          <p:cNvSpPr>
            <a:spLocks noGrp="1"/>
          </p:cNvSpPr>
          <p:nvPr>
            <p:ph type="ctrTitle"/>
          </p:nvPr>
        </p:nvSpPr>
        <p:spPr>
          <a:xfrm>
            <a:off x="2771715" y="2201069"/>
            <a:ext cx="5801096" cy="3364038"/>
          </a:xfrm>
        </p:spPr>
        <p:txBody>
          <a:bodyPr rtlCol="0" anchor="ctr" anchorCtr="0">
            <a:normAutofit fontScale="90000"/>
          </a:bodyPr>
          <a:lstStyle/>
          <a:p>
            <a:r>
              <a:rPr lang="fr-FR" sz="4800" dirty="0">
                <a:solidFill>
                  <a:schemeClr val="bg1"/>
                </a:solidFill>
              </a:rPr>
              <a:t>Spring Data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JPA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Hibernate</a:t>
            </a:r>
            <a:br>
              <a:rPr lang="fr-FR" sz="4800" dirty="0">
                <a:solidFill>
                  <a:schemeClr val="bg1"/>
                </a:solidFill>
              </a:rPr>
            </a:b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La belle vie ;)</a:t>
            </a:r>
            <a:br>
              <a:rPr lang="fr-FR" sz="4800" dirty="0">
                <a:solidFill>
                  <a:schemeClr val="bg1"/>
                </a:solidFill>
              </a:rPr>
            </a:br>
            <a:endParaRPr lang="fr-FR" sz="4800" dirty="0">
              <a:solidFill>
                <a:schemeClr val="bg1"/>
              </a:solidFill>
            </a:endParaRPr>
          </a:p>
        </p:txBody>
      </p:sp>
      <p:pic>
        <p:nvPicPr>
          <p:cNvPr id="1026" name="Picture 2" descr="Formation JPA avec Hibernate ⋆ Ambient Formations">
            <a:extLst>
              <a:ext uri="{FF2B5EF4-FFF2-40B4-BE49-F238E27FC236}">
                <a16:creationId xmlns:a16="http://schemas.microsoft.com/office/drawing/2014/main" id="{2BFD024F-43D9-4F8E-B2C1-259FBE37C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59" y="2119610"/>
            <a:ext cx="1905000" cy="166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3B57CA5-CF57-417D-87A5-8D4D7DB8E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3738" y="2119610"/>
            <a:ext cx="1656622" cy="166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Spring Boot / Spring Data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DFFF470-9BA6-43F7-91BD-551442E2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1218389"/>
            <a:ext cx="76962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3CF6A7-E17D-4316-8AD8-CAC6DB3A7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but de cette 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59C144-B174-42C5-8664-9366D104618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495" y="2560320"/>
            <a:ext cx="10790493" cy="3977640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Identifier les </a:t>
            </a:r>
            <a:r>
              <a:rPr lang="fr-FR" dirty="0" err="1"/>
              <a:t>mappings</a:t>
            </a:r>
            <a:r>
              <a:rPr lang="fr-FR" dirty="0"/>
              <a:t> qui peuvent poser des problèmes de performance (N+1)</a:t>
            </a:r>
            <a:br>
              <a:rPr lang="fr-FR" dirty="0"/>
            </a:br>
            <a:r>
              <a:rPr lang="fr-FR" dirty="0"/>
              <a:t>Et dans quelle situation !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Quelques solutions pour y remédier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00004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762643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qui va nous poser des problèmes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6FDDC8-2C00-4F9A-AB8E-EF99EE5648C4}"/>
              </a:ext>
            </a:extLst>
          </p:cNvPr>
          <p:cNvSpPr/>
          <p:nvPr/>
        </p:nvSpPr>
        <p:spPr>
          <a:xfrm>
            <a:off x="4564565" y="3959427"/>
            <a:ext cx="1598341" cy="8995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School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B7CDAB-6E9D-44D6-8B5E-F22E19DD0B99}"/>
              </a:ext>
            </a:extLst>
          </p:cNvPr>
          <p:cNvSpPr/>
          <p:nvPr/>
        </p:nvSpPr>
        <p:spPr>
          <a:xfrm>
            <a:off x="3375097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Teacher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E7C19-6088-4688-9A26-AF705083ED6A}"/>
              </a:ext>
            </a:extLst>
          </p:cNvPr>
          <p:cNvSpPr/>
          <p:nvPr/>
        </p:nvSpPr>
        <p:spPr>
          <a:xfrm>
            <a:off x="6036526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BA884-352B-458D-8D61-FD51C39D4106}"/>
              </a:ext>
            </a:extLst>
          </p:cNvPr>
          <p:cNvSpPr/>
          <p:nvPr/>
        </p:nvSpPr>
        <p:spPr>
          <a:xfrm>
            <a:off x="4690945" y="5334000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Director</a:t>
            </a:r>
            <a:endParaRPr lang="fr-FR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F6B096E-7555-49DE-97F9-4F76CA922EF0}"/>
              </a:ext>
            </a:extLst>
          </p:cNvPr>
          <p:cNvCxnSpPr>
            <a:stCxn id="2" idx="2"/>
            <a:endCxn id="8" idx="0"/>
          </p:cNvCxnSpPr>
          <p:nvPr/>
        </p:nvCxnSpPr>
        <p:spPr>
          <a:xfrm>
            <a:off x="5363736" y="4858958"/>
            <a:ext cx="0" cy="4750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359C55A1-49E5-45FE-843D-384BB0E57383}"/>
              </a:ext>
            </a:extLst>
          </p:cNvPr>
          <p:cNvCxnSpPr>
            <a:stCxn id="2" idx="0"/>
            <a:endCxn id="7" idx="2"/>
          </p:cNvCxnSpPr>
          <p:nvPr/>
        </p:nvCxnSpPr>
        <p:spPr>
          <a:xfrm flipV="1">
            <a:off x="5363736" y="2523781"/>
            <a:ext cx="1345581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B086701-A82E-4118-A53D-28337C4AE9A3}"/>
              </a:ext>
            </a:extLst>
          </p:cNvPr>
          <p:cNvCxnSpPr>
            <a:stCxn id="2" idx="0"/>
            <a:endCxn id="3" idx="2"/>
          </p:cNvCxnSpPr>
          <p:nvPr/>
        </p:nvCxnSpPr>
        <p:spPr>
          <a:xfrm flipH="1" flipV="1">
            <a:off x="4047888" y="2523781"/>
            <a:ext cx="1315848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D560C18-AE9C-4BCA-AE83-FEE72813561E}"/>
              </a:ext>
            </a:extLst>
          </p:cNvPr>
          <p:cNvSpPr txBox="1"/>
          <p:nvPr/>
        </p:nvSpPr>
        <p:spPr>
          <a:xfrm>
            <a:off x="5363735" y="5096478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FA4A130-0378-41FC-AD1F-7D279C90D51F}"/>
              </a:ext>
            </a:extLst>
          </p:cNvPr>
          <p:cNvSpPr txBox="1"/>
          <p:nvPr/>
        </p:nvSpPr>
        <p:spPr>
          <a:xfrm>
            <a:off x="5363734" y="48474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60F0A7F-022C-404F-AEEC-5B2D7A2D67CC}"/>
              </a:ext>
            </a:extLst>
          </p:cNvPr>
          <p:cNvSpPr txBox="1"/>
          <p:nvPr/>
        </p:nvSpPr>
        <p:spPr>
          <a:xfrm>
            <a:off x="5490115" y="37021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292132-D882-4DFD-B3C1-86879C009E17}"/>
              </a:ext>
            </a:extLst>
          </p:cNvPr>
          <p:cNvSpPr txBox="1"/>
          <p:nvPr/>
        </p:nvSpPr>
        <p:spPr>
          <a:xfrm>
            <a:off x="4971584" y="369845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6C0F03D-20A4-484C-A2CD-CC355678D43D}"/>
              </a:ext>
            </a:extLst>
          </p:cNvPr>
          <p:cNvSpPr txBox="1"/>
          <p:nvPr/>
        </p:nvSpPr>
        <p:spPr>
          <a:xfrm>
            <a:off x="6666569" y="2504042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6902406-13B6-4A18-9E08-17661F3769C3}"/>
              </a:ext>
            </a:extLst>
          </p:cNvPr>
          <p:cNvSpPr txBox="1"/>
          <p:nvPr/>
        </p:nvSpPr>
        <p:spPr>
          <a:xfrm>
            <a:off x="3816497" y="250746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81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: MCD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9EA93D-BB12-4074-B5D6-E31A2CB72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1221174"/>
            <a:ext cx="11105798" cy="559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0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Sérialisation JSON / « grappe » complète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521208" y="1221760"/>
            <a:ext cx="3259338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0070C0"/>
                </a:solidFill>
              </a:rPr>
              <a:t> </a:t>
            </a:r>
            <a:r>
              <a:rPr lang="fr-FR" sz="1200" b="1" dirty="0"/>
              <a:t>{</a:t>
            </a:r>
          </a:p>
          <a:p>
            <a:r>
              <a:rPr lang="fr-FR" sz="1200" b="1" dirty="0"/>
              <a:t>    "id": 1,</a:t>
            </a:r>
          </a:p>
          <a:p>
            <a:r>
              <a:rPr lang="fr-FR" sz="1200" b="1" dirty="0"/>
              <a:t>    "location": "Location0",</a:t>
            </a:r>
          </a:p>
          <a:p>
            <a:r>
              <a:rPr lang="fr-FR" sz="1200" b="1" dirty="0"/>
              <a:t>    "</a:t>
            </a:r>
            <a:r>
              <a:rPr lang="fr-FR" sz="1200" b="1" dirty="0" err="1"/>
              <a:t>name</a:t>
            </a:r>
            <a:r>
              <a:rPr lang="fr-FR" sz="1200" b="1" dirty="0"/>
              <a:t>": "School0",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"id": 1,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"Director0"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"StudentB0"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"StudentA0"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2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"TeacherA0"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"TeacherB0"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]</a:t>
            </a:r>
          </a:p>
          <a:p>
            <a:r>
              <a:rPr lang="fr-FR" sz="1200" b="1" dirty="0"/>
              <a:t>  },</a:t>
            </a:r>
          </a:p>
        </p:txBody>
      </p:sp>
    </p:spTree>
    <p:extLst>
      <p:ext uri="{BB962C8B-B14F-4D97-AF65-F5344CB8AC3E}">
        <p14:creationId xmlns:p14="http://schemas.microsoft.com/office/powerpoint/2010/main" val="7412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One / Many to One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3C09A81-FC90-46D6-9AFC-309B36957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1651147"/>
            <a:ext cx="2899318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A075006-9B78-41F2-9AF3-9DCB3F5C3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1923575"/>
            <a:ext cx="3278458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A150F3D6-AAFA-4815-9476-FEDE0A0A464A}"/>
              </a:ext>
            </a:extLst>
          </p:cNvPr>
          <p:cNvSpPr/>
          <p:nvPr/>
        </p:nvSpPr>
        <p:spPr>
          <a:xfrm>
            <a:off x="5000281" y="212314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D75BBC-E687-4ED4-B194-562C10AEF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776" y="5296005"/>
            <a:ext cx="5057775" cy="1409700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FE382B50-B123-4BD2-A78A-9F0B43F4F9C3}"/>
              </a:ext>
            </a:extLst>
          </p:cNvPr>
          <p:cNvSpPr/>
          <p:nvPr/>
        </p:nvSpPr>
        <p:spPr>
          <a:xfrm>
            <a:off x="5046151" y="388455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096BD1C7-4E3C-4189-A63C-7E40A4973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3582167"/>
            <a:ext cx="3278458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23CA844F-887C-492E-A308-489D22846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3679184"/>
            <a:ext cx="2899318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631FD33-459F-490E-AA7F-A9AA3F650B9F}"/>
              </a:ext>
            </a:extLst>
          </p:cNvPr>
          <p:cNvCxnSpPr/>
          <p:nvPr/>
        </p:nvCxnSpPr>
        <p:spPr>
          <a:xfrm flipV="1">
            <a:off x="521206" y="3466859"/>
            <a:ext cx="10961915" cy="43362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3C0B9410-E858-4776-8057-97B758F08B3E}"/>
              </a:ext>
            </a:extLst>
          </p:cNvPr>
          <p:cNvSpPr txBox="1"/>
          <p:nvPr/>
        </p:nvSpPr>
        <p:spPr>
          <a:xfrm>
            <a:off x="521205" y="1241529"/>
            <a:ext cx="10961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</p:txBody>
      </p:sp>
    </p:spTree>
    <p:extLst>
      <p:ext uri="{BB962C8B-B14F-4D97-AF65-F5344CB8AC3E}">
        <p14:creationId xmlns:p14="http://schemas.microsoft.com/office/powerpoint/2010/main" val="37310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Many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Dans le cas d’une relation « 1 – n » ou « unidirectionnelle », il faut obligatoirement définir le mapping inverse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308F610-468F-437A-A1CD-749C0AF98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0976" y="2730473"/>
            <a:ext cx="3241288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teachers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E6E15A96-D08B-419E-AEDD-FE6372D6B818}"/>
              </a:ext>
            </a:extLst>
          </p:cNvPr>
          <p:cNvSpPr/>
          <p:nvPr/>
        </p:nvSpPr>
        <p:spPr>
          <a:xfrm>
            <a:off x="5223305" y="3202475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A94E5416-A241-4C9E-A5F4-9B0D3B1D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678" y="2647471"/>
            <a:ext cx="3873190" cy="17851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A22F15C-AD09-4C7C-B8A2-2690C49A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182" y="5096451"/>
            <a:ext cx="43434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4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Many to Many / n – n / bidirectionnelle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D936713-7C72-4E0C-BB1E-8D18AF15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6" y="1496697"/>
            <a:ext cx="5382323" cy="3447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  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// </a:t>
            </a:r>
            <a:r>
              <a:rPr lang="fr-FR" altLang="fr-FR" sz="1000" i="1" dirty="0" err="1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OneToMany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 va fonctionner aussi ^^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"SCHOOL_STUDENT"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inverseJoinColumns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students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CA194B-ECE1-47C7-BA40-244DEFF83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1345" y="2552000"/>
            <a:ext cx="3872759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BFCF5832-8731-4C0C-8399-A1C15114D0A0}"/>
              </a:ext>
            </a:extLst>
          </p:cNvPr>
          <p:cNvSpPr/>
          <p:nvPr/>
        </p:nvSpPr>
        <p:spPr>
          <a:xfrm>
            <a:off x="6130271" y="2856800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A7A86FB-40EF-418D-A5ED-FC708E039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114" y="5066609"/>
            <a:ext cx="765810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3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 fontScale="90000"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Type de jointure Eager ou Lazy ? (Attribut « FetchType »)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One To One / </a:t>
            </a:r>
            <a:r>
              <a:rPr lang="fr-FR" dirty="0" err="1"/>
              <a:t>Many</a:t>
            </a:r>
            <a:r>
              <a:rPr lang="fr-FR" dirty="0"/>
              <a:t> To One  </a:t>
            </a:r>
            <a:r>
              <a:rPr lang="fr-FR" dirty="0">
                <a:sym typeface="Wingdings" panose="05000000000000000000" pitchFamily="2" charset="2"/>
              </a:rPr>
              <a:t> </a:t>
            </a:r>
            <a:r>
              <a:rPr lang="fr-FR" dirty="0" err="1"/>
              <a:t>Eager</a:t>
            </a:r>
            <a:r>
              <a:rPr lang="fr-FR" dirty="0"/>
              <a:t> par défaut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Les autres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/>
              <a:t> </a:t>
            </a:r>
            <a:r>
              <a:rPr lang="fr-FR" dirty="0" err="1"/>
              <a:t>Lazy</a:t>
            </a:r>
            <a:r>
              <a:rPr lang="fr-FR" dirty="0"/>
              <a:t> par défaut, on ne touche pas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Une jointure doit être déclarative avec un </a:t>
            </a:r>
            <a:r>
              <a:rPr lang="fr-FR" dirty="0" err="1"/>
              <a:t>fetch</a:t>
            </a:r>
            <a:r>
              <a:rPr lang="fr-FR" dirty="0"/>
              <a:t> ou une requête directe !</a:t>
            </a:r>
            <a:br>
              <a:rPr lang="fr-FR" dirty="0"/>
            </a:br>
            <a:r>
              <a:rPr lang="fr-FR" dirty="0"/>
              <a:t>En effet, figer les requêtes « </a:t>
            </a:r>
            <a:r>
              <a:rPr lang="fr-FR" dirty="0" err="1"/>
              <a:t>programmatiquement</a:t>
            </a:r>
            <a:r>
              <a:rPr lang="fr-FR" dirty="0"/>
              <a:t> » avec les annotations, empêchera toute évolution…</a:t>
            </a:r>
            <a:br>
              <a:rPr lang="fr-FR" dirty="0"/>
            </a:br>
            <a:r>
              <a:rPr lang="fr-FR" dirty="0"/>
              <a:t>De plus, cela pourrait conduire à des problèmes de performances car des données inutiles seraient systématiquement récupérées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Conseil ?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93C32C6-9C38-4791-A753-B4DA8822BD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173707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16727A-6C9F-4BB4-A0D4-E7AE87AB7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832405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C295CC2-3C55-4263-A392-041686476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040" y="3591734"/>
            <a:ext cx="7314718" cy="2055019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C8DED574-2F61-4384-8F24-6E5075408A1F}"/>
              </a:ext>
            </a:extLst>
          </p:cNvPr>
          <p:cNvSpPr txBox="1"/>
          <p:nvPr/>
        </p:nvSpPr>
        <p:spPr>
          <a:xfrm>
            <a:off x="4412879" y="3330124"/>
            <a:ext cx="6924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>
                <a:hlinkClick r:id="rId4"/>
              </a:rPr>
              <a:t>https://docs.jboss.org/hibernate/stable/orm/userguide/html_single/Hibernate_User_Guide.html#fetching</a:t>
            </a:r>
            <a:r>
              <a:rPr lang="fr-FR" sz="1100" dirty="0"/>
              <a:t>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ADEED5F9-E4CA-43A0-8BED-4ACC952F9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630" y="5613440"/>
            <a:ext cx="5412582" cy="111451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234E059A-625B-4ACE-9859-9E2E136A29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64493" y="5694841"/>
            <a:ext cx="4910137" cy="98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Mon repository !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je ne fais rien ? (conseil : écrivez la méthode !)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9B6EE4-6C3D-44C8-94D3-453C39248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234" y="1749388"/>
            <a:ext cx="5248507" cy="7078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34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801387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?? Exemple avec une sortie de Controller &amp; Proxy Entité 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8892768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F16F5A-D6FD-4119-A469-081C49FC5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84" y="1513245"/>
            <a:ext cx="4822520" cy="4616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length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100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teachers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9B538B-FFF6-4FC8-8993-EBB956482F7A}"/>
              </a:ext>
            </a:extLst>
          </p:cNvPr>
          <p:cNvSpPr/>
          <p:nvPr/>
        </p:nvSpPr>
        <p:spPr>
          <a:xfrm>
            <a:off x="6096000" y="2542163"/>
            <a:ext cx="1141379" cy="28015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fr-FR" dirty="0"/>
              <a:t>JACKSON</a:t>
            </a:r>
          </a:p>
          <a:p>
            <a:pPr algn="ctr"/>
            <a:r>
              <a:rPr lang="fr-FR" dirty="0"/>
              <a:t>SERIALISATION</a:t>
            </a:r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0AC291B5-34B4-4249-B9A0-C8D5E5E79762}"/>
              </a:ext>
            </a:extLst>
          </p:cNvPr>
          <p:cNvSpPr/>
          <p:nvPr/>
        </p:nvSpPr>
        <p:spPr>
          <a:xfrm>
            <a:off x="4697616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7FA09263-EFF6-4AB5-BBC2-CD7708341F99}"/>
              </a:ext>
            </a:extLst>
          </p:cNvPr>
          <p:cNvSpPr/>
          <p:nvPr/>
        </p:nvSpPr>
        <p:spPr>
          <a:xfrm>
            <a:off x="7494384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8A64CB3-F22B-4F1B-9B65-94FC55B304B2}"/>
              </a:ext>
            </a:extLst>
          </p:cNvPr>
          <p:cNvSpPr txBox="1"/>
          <p:nvPr/>
        </p:nvSpPr>
        <p:spPr>
          <a:xfrm>
            <a:off x="8892767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F290CEDE-4A3F-4D89-BF04-E1A0B0F42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695" y="3762502"/>
            <a:ext cx="1258544" cy="86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" grpId="0" animBg="1"/>
      <p:bldP spid="6" grpId="0" animBg="1"/>
      <p:bldP spid="7" grpId="0" animBg="1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Quand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Commun à tous les ORM, lié au fonctionnement de la base de données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u="sng" dirty="0"/>
              <a:t>Conditions :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Par défaut la session ouverte par l’</a:t>
            </a:r>
            <a:r>
              <a:rPr lang="fr-FR" dirty="0" err="1"/>
              <a:t>Entity</a:t>
            </a:r>
            <a:r>
              <a:rPr lang="fr-FR" dirty="0"/>
              <a:t> Manager injectée automatiquement par Spring reste ouverte jusqu’au « Controller » !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Quand une relation est en « </a:t>
            </a:r>
            <a:r>
              <a:rPr lang="fr-FR" dirty="0" err="1"/>
              <a:t>Lazy</a:t>
            </a:r>
            <a:r>
              <a:rPr lang="fr-FR" dirty="0"/>
              <a:t> », elle ne va se charger qu’à la demande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L’entité est retournée par le Controller </a:t>
            </a:r>
            <a:r>
              <a:rPr lang="fr-FR" dirty="0">
                <a:sym typeface="Wingdings" panose="05000000000000000000" pitchFamily="2" charset="2"/>
              </a:rPr>
              <a:t> (</a:t>
            </a:r>
            <a:r>
              <a:rPr lang="fr-F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#MonModeleDeDonnéesEstExposéeALExterieur</a:t>
            </a:r>
            <a:r>
              <a:rPr lang="fr-FR" dirty="0">
                <a:sym typeface="Wingdings" panose="05000000000000000000" pitchFamily="2" charset="2"/>
              </a:rPr>
              <a:t>)</a:t>
            </a:r>
            <a:br>
              <a:rPr lang="fr-FR" dirty="0">
                <a:sym typeface="Wingdings" panose="05000000000000000000" pitchFamily="2" charset="2"/>
              </a:rPr>
            </a:br>
            <a:r>
              <a:rPr lang="fr-FR" dirty="0">
                <a:sym typeface="Wingdings" panose="05000000000000000000" pitchFamily="2" charset="2"/>
              </a:rPr>
              <a:t>Ou un mapping vers une ressource est fait dans le service 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9BD4C03-DDC7-4CB1-AE7B-B14AF1E72A9B}"/>
              </a:ext>
            </a:extLst>
          </p:cNvPr>
          <p:cNvSpPr/>
          <p:nvPr/>
        </p:nvSpPr>
        <p:spPr>
          <a:xfrm>
            <a:off x="9255091" y="3859888"/>
            <a:ext cx="2632954" cy="175432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/>
              <a:t>JpaRepository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B8B968B-3FBE-46FF-B112-B64F68ED373A}"/>
              </a:ext>
            </a:extLst>
          </p:cNvPr>
          <p:cNvSpPr/>
          <p:nvPr/>
        </p:nvSpPr>
        <p:spPr>
          <a:xfrm>
            <a:off x="5763182" y="3859888"/>
            <a:ext cx="2632954" cy="175432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Service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A032431-0318-499B-92FF-56EA5B131135}"/>
              </a:ext>
            </a:extLst>
          </p:cNvPr>
          <p:cNvSpPr/>
          <p:nvPr/>
        </p:nvSpPr>
        <p:spPr>
          <a:xfrm>
            <a:off x="2148964" y="3859888"/>
            <a:ext cx="2632954" cy="17543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Controller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69E0B62-4C74-4BFD-B204-D720190E48D8}"/>
              </a:ext>
            </a:extLst>
          </p:cNvPr>
          <p:cNvCxnSpPr>
            <a:cxnSpLocks/>
          </p:cNvCxnSpPr>
          <p:nvPr/>
        </p:nvCxnSpPr>
        <p:spPr>
          <a:xfrm>
            <a:off x="4487694" y="4396902"/>
            <a:ext cx="1679639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F773FF6-63CF-4194-AFAD-4B09D3034FC8}"/>
              </a:ext>
            </a:extLst>
          </p:cNvPr>
          <p:cNvCxnSpPr>
            <a:cxnSpLocks/>
          </p:cNvCxnSpPr>
          <p:nvPr/>
        </p:nvCxnSpPr>
        <p:spPr>
          <a:xfrm>
            <a:off x="7983166" y="4374204"/>
            <a:ext cx="1725038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447E52F-6FF3-4816-8BC3-EE7820EFFE05}"/>
              </a:ext>
            </a:extLst>
          </p:cNvPr>
          <p:cNvCxnSpPr>
            <a:cxnSpLocks/>
          </p:cNvCxnSpPr>
          <p:nvPr/>
        </p:nvCxnSpPr>
        <p:spPr>
          <a:xfrm>
            <a:off x="7931285" y="5194570"/>
            <a:ext cx="1708818" cy="0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A219240D-C0AF-4886-AF43-93C199347981}"/>
              </a:ext>
            </a:extLst>
          </p:cNvPr>
          <p:cNvCxnSpPr>
            <a:cxnSpLocks/>
          </p:cNvCxnSpPr>
          <p:nvPr/>
        </p:nvCxnSpPr>
        <p:spPr>
          <a:xfrm flipV="1">
            <a:off x="4429328" y="5194570"/>
            <a:ext cx="1738005" cy="10122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7" name="Explosion : 8 points 16">
            <a:extLst>
              <a:ext uri="{FF2B5EF4-FFF2-40B4-BE49-F238E27FC236}">
                <a16:creationId xmlns:a16="http://schemas.microsoft.com/office/drawing/2014/main" id="{02B7F8DD-CA7D-4DB0-850E-1759277CF0DE}"/>
              </a:ext>
            </a:extLst>
          </p:cNvPr>
          <p:cNvSpPr/>
          <p:nvPr/>
        </p:nvSpPr>
        <p:spPr>
          <a:xfrm>
            <a:off x="6732502" y="4953318"/>
            <a:ext cx="708151" cy="571904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8141096-026C-4E24-B8FC-7D3993DCAED5}"/>
              </a:ext>
            </a:extLst>
          </p:cNvPr>
          <p:cNvSpPr txBox="1"/>
          <p:nvPr/>
        </p:nvSpPr>
        <p:spPr>
          <a:xfrm>
            <a:off x="404269" y="4766234"/>
            <a:ext cx="1467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Serialisation</a:t>
            </a:r>
            <a:endParaRPr lang="fr-FR" dirty="0"/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19" name="Explosion : 8 points 18">
            <a:extLst>
              <a:ext uri="{FF2B5EF4-FFF2-40B4-BE49-F238E27FC236}">
                <a16:creationId xmlns:a16="http://schemas.microsoft.com/office/drawing/2014/main" id="{CDE2F490-FE4A-4FFB-A873-A98422144F2C}"/>
              </a:ext>
            </a:extLst>
          </p:cNvPr>
          <p:cNvSpPr/>
          <p:nvPr/>
        </p:nvSpPr>
        <p:spPr>
          <a:xfrm>
            <a:off x="1936165" y="5016141"/>
            <a:ext cx="678448" cy="492868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9EC412E-3BAC-4EF7-A36B-F3121CD2C045}"/>
              </a:ext>
            </a:extLst>
          </p:cNvPr>
          <p:cNvSpPr txBox="1"/>
          <p:nvPr/>
        </p:nvSpPr>
        <p:spPr>
          <a:xfrm>
            <a:off x="404269" y="4189538"/>
            <a:ext cx="1467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REST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E2845B10-0E2D-4A63-9B92-F4AF59D18C72}"/>
              </a:ext>
            </a:extLst>
          </p:cNvPr>
          <p:cNvCxnSpPr>
            <a:cxnSpLocks/>
          </p:cNvCxnSpPr>
          <p:nvPr/>
        </p:nvCxnSpPr>
        <p:spPr>
          <a:xfrm>
            <a:off x="1470114" y="4396902"/>
            <a:ext cx="958597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6C2F792C-716B-46C4-9C47-7032A8475F1D}"/>
              </a:ext>
            </a:extLst>
          </p:cNvPr>
          <p:cNvCxnSpPr>
            <a:cxnSpLocks/>
          </p:cNvCxnSpPr>
          <p:nvPr/>
        </p:nvCxnSpPr>
        <p:spPr>
          <a:xfrm>
            <a:off x="1839910" y="4953318"/>
            <a:ext cx="588801" cy="0"/>
          </a:xfrm>
          <a:prstGeom prst="straightConnector1">
            <a:avLst/>
          </a:prstGeom>
          <a:ln w="6985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808B017-E84F-4B9B-9D8D-3A90D7A64C36}"/>
              </a:ext>
            </a:extLst>
          </p:cNvPr>
          <p:cNvCxnSpPr>
            <a:cxnSpLocks/>
            <a:endCxn id="31" idx="3"/>
          </p:cNvCxnSpPr>
          <p:nvPr/>
        </p:nvCxnSpPr>
        <p:spPr>
          <a:xfrm flipH="1">
            <a:off x="5441004" y="5552041"/>
            <a:ext cx="1407598" cy="9765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14234FD-EFE4-4FA1-9279-E3B419B55BB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2347935" y="5517151"/>
            <a:ext cx="2269784" cy="101142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D61B7011-D4DF-4F0D-8D1C-7E0073E45A83}"/>
              </a:ext>
            </a:extLst>
          </p:cNvPr>
          <p:cNvSpPr txBox="1"/>
          <p:nvPr/>
        </p:nvSpPr>
        <p:spPr>
          <a:xfrm>
            <a:off x="4617719" y="6299964"/>
            <a:ext cx="823285" cy="457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N+1</a:t>
            </a:r>
          </a:p>
        </p:txBody>
      </p:sp>
    </p:spTree>
    <p:extLst>
      <p:ext uri="{BB962C8B-B14F-4D97-AF65-F5344CB8AC3E}">
        <p14:creationId xmlns:p14="http://schemas.microsoft.com/office/powerpoint/2010/main" val="111347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7" grpId="0" animBg="1"/>
      <p:bldP spid="18" grpId="0"/>
      <p:bldP spid="19" grpId="0" animBg="1"/>
      <p:bldP spid="26" grpId="0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Entity Manager et sa portée / transaction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549164"/>
            <a:ext cx="3287885" cy="3837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Fira Code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85E2316-B371-4BF0-89E9-C3B55C3A0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7637" y="2443923"/>
            <a:ext cx="635644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400" dirty="0">
                <a:solidFill>
                  <a:schemeClr val="bg2">
                    <a:lumMod val="50000"/>
                  </a:schemeClr>
                </a:solidFill>
                <a:latin typeface="Fira Code"/>
              </a:rPr>
              <a:t>// </a:t>
            </a:r>
            <a:r>
              <a:rPr lang="fr-FR" altLang="fr-FR" sz="1400" dirty="0" err="1">
                <a:solidFill>
                  <a:schemeClr val="bg2">
                    <a:lumMod val="50000"/>
                  </a:schemeClr>
                </a:solidFill>
                <a:latin typeface="Fira Code"/>
              </a:rPr>
              <a:t>org.springframework.transaction.annotation.Transactional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@Transactional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(readOnly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endParaRPr lang="fr-FR" altLang="fr-FR" sz="1400" i="1" dirty="0">
              <a:solidFill>
                <a:srgbClr val="8C8C8C"/>
              </a:solidFill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return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schoolMapper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.mapResource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1EF92DC4-F2A0-42AE-AAD6-4DDCF1A68BC6}"/>
              </a:ext>
            </a:extLst>
          </p:cNvPr>
          <p:cNvSpPr/>
          <p:nvPr/>
        </p:nvSpPr>
        <p:spPr>
          <a:xfrm>
            <a:off x="4133701" y="1504314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5DE22FF-521A-46AE-A96A-1528FF84274D}"/>
              </a:ext>
            </a:extLst>
          </p:cNvPr>
          <p:cNvSpPr txBox="1"/>
          <p:nvPr/>
        </p:nvSpPr>
        <p:spPr>
          <a:xfrm>
            <a:off x="5680952" y="1563546"/>
            <a:ext cx="5998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La session ne reste ouverte que dans le « </a:t>
            </a:r>
            <a:r>
              <a:rPr lang="fr-FR" dirty="0" err="1"/>
              <a:t>JpaRepository</a:t>
            </a:r>
            <a:r>
              <a:rPr lang="fr-FR" dirty="0"/>
              <a:t> »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920CA6B-C603-4A3C-B5A2-B1CA0A817985}"/>
              </a:ext>
            </a:extLst>
          </p:cNvPr>
          <p:cNvSpPr txBox="1"/>
          <p:nvPr/>
        </p:nvSpPr>
        <p:spPr>
          <a:xfrm>
            <a:off x="985738" y="2973421"/>
            <a:ext cx="1699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Service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2CC5FD9-5E38-49DE-8B8F-4438E245AECA}"/>
              </a:ext>
            </a:extLst>
          </p:cNvPr>
          <p:cNvSpPr txBox="1"/>
          <p:nvPr/>
        </p:nvSpPr>
        <p:spPr>
          <a:xfrm>
            <a:off x="985738" y="5239811"/>
            <a:ext cx="19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Controller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8C654378-6D28-491F-9AD9-9C35B15155B3}"/>
              </a:ext>
            </a:extLst>
          </p:cNvPr>
          <p:cNvSpPr/>
          <p:nvPr/>
        </p:nvSpPr>
        <p:spPr>
          <a:xfrm>
            <a:off x="3002050" y="2908103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212F0A9-4BE7-419E-B347-71F24A35EA5F}"/>
              </a:ext>
            </a:extLst>
          </p:cNvPr>
          <p:cNvSpPr/>
          <p:nvPr/>
        </p:nvSpPr>
        <p:spPr>
          <a:xfrm>
            <a:off x="3002050" y="5239811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99" name="Picture 3">
            <a:extLst>
              <a:ext uri="{FF2B5EF4-FFF2-40B4-BE49-F238E27FC236}">
                <a16:creationId xmlns:a16="http://schemas.microsoft.com/office/drawing/2014/main" id="{48AB3548-4D57-4A74-8283-F5A6D7260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37" y="4095678"/>
            <a:ext cx="4262313" cy="2397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8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9" grpId="0"/>
      <p:bldP spid="10" grpId="0"/>
      <p:bldP spid="11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Jointures ? Dans quel cas ?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Je filtre sur une entité particulière et je récupère l’arbre, c’est le cas que nous allons traiter dans le slide suivant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Pagination sur requête avec une réponse « conséquente » (voir section ad hoc) qui nécessite des jointures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B92E64B-E616-4765-ABFD-0B2411A1937E}"/>
              </a:ext>
            </a:extLst>
          </p:cNvPr>
          <p:cNvSpPr txBox="1"/>
          <p:nvPr/>
        </p:nvSpPr>
        <p:spPr>
          <a:xfrm>
            <a:off x="4910662" y="4421182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N+1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11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F256E6-053A-4D8D-8299-74C2EA964C42}"/>
              </a:ext>
            </a:extLst>
          </p:cNvPr>
          <p:cNvSpPr/>
          <p:nvPr/>
        </p:nvSpPr>
        <p:spPr>
          <a:xfrm>
            <a:off x="521207" y="5740421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B7240A-10E8-4D88-B6BF-589ED00A1F23}"/>
              </a:ext>
            </a:extLst>
          </p:cNvPr>
          <p:cNvSpPr/>
          <p:nvPr/>
        </p:nvSpPr>
        <p:spPr>
          <a:xfrm>
            <a:off x="521207" y="3934903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Si l’on veut récupérer tout l’arbre de données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Solutions possibles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La solution par défaut « N+1 »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plusieurs</a:t>
            </a:r>
            <a:r>
              <a:rPr lang="fr-FR" dirty="0"/>
              <a:t> fois avec des requêtes dédiées =&gt; peu efficace mais fiable, rapide et sans danger, surtout si la maitrise des ORM est faible :</a:t>
            </a:r>
            <a:br>
              <a:rPr lang="fr-FR" dirty="0"/>
            </a:b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puis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findStudentsById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 et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findTeachersById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alt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</a:t>
            </a:r>
            <a:r>
              <a:rPr lang="fr-FR" dirty="0"/>
              <a:t>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</a:t>
            </a:r>
            <a:r>
              <a:rPr lang="fr-FR" dirty="0"/>
              <a:t> 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lang="fr-FR" altLang="fr-FR" dirty="0">
                <a:solidFill>
                  <a:srgbClr val="1750EB"/>
                </a:solidFill>
                <a:latin typeface="Fira Code"/>
              </a:rPr>
              <a:t>x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r>
              <a:rPr lang="fr-FR" dirty="0"/>
              <a:t> pour réduire le nombre de n+1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FetchMode</a:t>
            </a: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800" b="0" i="1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SUBSELECT / JOIN</a:t>
            </a: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lang="fr-FR" dirty="0"/>
              <a:t>pour récupérer en 1 seule fois la liste pour chaque fils : </a:t>
            </a:r>
            <a:r>
              <a:rPr lang="fr-FR" dirty="0">
                <a:solidFill>
                  <a:srgbClr val="FF0000"/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</a:t>
            </a:r>
            <a:r>
              <a:rPr lang="fr-FR" dirty="0">
                <a:solidFill>
                  <a:srgbClr val="C00000"/>
                </a:solidFill>
              </a:rPr>
              <a:t>une seule </a:t>
            </a:r>
            <a:r>
              <a:rPr lang="fr-FR" dirty="0"/>
              <a:t>requête :  FETCH avec produit cartésien, </a:t>
            </a:r>
            <a:r>
              <a:rPr lang="fr-FR" dirty="0">
                <a:solidFill>
                  <a:schemeClr val="accent6">
                    <a:lumMod val="50000"/>
                  </a:schemeClr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EBAAA87-BBC8-4927-B1C1-58893CF49850}"/>
              </a:ext>
            </a:extLst>
          </p:cNvPr>
          <p:cNvSpPr txBox="1"/>
          <p:nvPr/>
        </p:nvSpPr>
        <p:spPr>
          <a:xfrm>
            <a:off x="780612" y="6536563"/>
            <a:ext cx="6973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NB : Les annotations ci-dessus sont « </a:t>
            </a:r>
            <a:r>
              <a:rPr lang="fr-FR" i="1" dirty="0" err="1">
                <a:solidFill>
                  <a:schemeClr val="accent1">
                    <a:lumMod val="75000"/>
                  </a:schemeClr>
                </a:solidFill>
              </a:rPr>
              <a:t>hibernate</a:t>
            </a:r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 » et non « JPA »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B8447-5733-4FAB-9928-DD4104AC0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080" y="2212593"/>
            <a:ext cx="4982143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(filtre);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8B4CAF2-184D-425D-8025-D20A5079BF65}"/>
              </a:ext>
            </a:extLst>
          </p:cNvPr>
          <p:cNvSpPr/>
          <p:nvPr/>
        </p:nvSpPr>
        <p:spPr>
          <a:xfrm>
            <a:off x="4353141" y="2282946"/>
            <a:ext cx="674451" cy="2853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170" name="Picture 2" descr="Trollface - Wikipedia">
            <a:extLst>
              <a:ext uri="{FF2B5EF4-FFF2-40B4-BE49-F238E27FC236}">
                <a16:creationId xmlns:a16="http://schemas.microsoft.com/office/drawing/2014/main" id="{7D7E78CE-722D-4821-AEE6-A2015E5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0703" y="2179634"/>
            <a:ext cx="528251" cy="43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231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6" grpId="0"/>
      <p:bldP spid="7" grpId="0" animBg="1"/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10405489" cy="640080"/>
          </a:xfrm>
        </p:spPr>
        <p:txBody>
          <a:bodyPr rtlCol="0">
            <a:normAutofit/>
          </a:bodyPr>
          <a:lstStyle/>
          <a:p>
            <a:pPr rtl="0"/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mais consomme un peu plus de mémoire/</a:t>
            </a:r>
            <a:r>
              <a:rPr kumimoji="0" lang="fr-FR" altLang="fr-FR" sz="2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cpu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C9D64F-6E6D-45A7-9222-AFB25AC9B773}"/>
              </a:ext>
            </a:extLst>
          </p:cNvPr>
          <p:cNvSpPr txBox="1"/>
          <p:nvPr/>
        </p:nvSpPr>
        <p:spPr>
          <a:xfrm>
            <a:off x="521207" y="1437765"/>
            <a:ext cx="10065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Au moment de l’accès aux données, groupe les jointures en x paquets dans une seule requête</a:t>
            </a:r>
          </a:p>
          <a:p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BCBB5-3A8F-411E-B3EE-5FF45C268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8047" y="2661462"/>
            <a:ext cx="5820120" cy="738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(cascade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CascadeType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08D00E-C449-4637-9374-8158912E3BA5}"/>
              </a:ext>
            </a:extLst>
          </p:cNvPr>
          <p:cNvSpPr txBox="1"/>
          <p:nvPr/>
        </p:nvSpPr>
        <p:spPr>
          <a:xfrm>
            <a:off x="878047" y="4447681"/>
            <a:ext cx="7849641" cy="20313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school_i1_2_1_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student_2_2_1_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id1_3_0_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name2_3_0_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 err="1">
                <a:solidFill>
                  <a:srgbClr val="000000"/>
                </a:solidFill>
                <a:effectLst/>
              </a:rPr>
              <a:t>school_student</a:t>
            </a:r>
            <a:r>
              <a:rPr lang="en-US" dirty="0">
                <a:solidFill>
                  <a:srgbClr val="000000"/>
                </a:solidFill>
                <a:effectLst/>
              </a:rPr>
              <a:t> students0_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student student1_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(?, ?, ?, ?, ?, ?, ?, ?, ?, ?, ?, ?, ?, ?, ?)  </a:t>
            </a:r>
            <a:r>
              <a:rPr lang="en-US" dirty="0">
                <a:solidFill>
                  <a:srgbClr val="FF0000"/>
                </a:solidFill>
              </a:rPr>
              <a:t>&lt; x </a:t>
            </a:r>
            <a:r>
              <a:rPr lang="en-US" dirty="0" err="1">
                <a:solidFill>
                  <a:srgbClr val="FF0000"/>
                </a:solidFill>
              </a:rPr>
              <a:t>fois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43371798-D34B-4210-91A9-C800D4720354}"/>
              </a:ext>
            </a:extLst>
          </p:cNvPr>
          <p:cNvSpPr/>
          <p:nvPr/>
        </p:nvSpPr>
        <p:spPr>
          <a:xfrm>
            <a:off x="3278458" y="3514513"/>
            <a:ext cx="661639" cy="7952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87D13C-FBF8-432E-B739-31A3A8BE96D7}"/>
              </a:ext>
            </a:extLst>
          </p:cNvPr>
          <p:cNvSpPr txBox="1"/>
          <p:nvPr/>
        </p:nvSpPr>
        <p:spPr>
          <a:xfrm>
            <a:off x="2706029" y="1766359"/>
            <a:ext cx="19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endParaRPr lang="fr-FR" dirty="0"/>
          </a:p>
        </p:txBody>
      </p:sp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365ECC1E-CBF6-4057-8FF6-001F4358481F}"/>
              </a:ext>
            </a:extLst>
          </p:cNvPr>
          <p:cNvSpPr/>
          <p:nvPr/>
        </p:nvSpPr>
        <p:spPr>
          <a:xfrm>
            <a:off x="3339789" y="2172327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3" name="Tableau 4">
            <a:extLst>
              <a:ext uri="{FF2B5EF4-FFF2-40B4-BE49-F238E27FC236}">
                <a16:creationId xmlns:a16="http://schemas.microsoft.com/office/drawing/2014/main" id="{6120CDA5-7181-4B39-83E9-238C4C21D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911272"/>
              </p:ext>
            </p:extLst>
          </p:nvPr>
        </p:nvGraphicFramePr>
        <p:xfrm>
          <a:off x="8313237" y="2084096"/>
          <a:ext cx="313508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4">
                  <a:extLst>
                    <a:ext uri="{9D8B030D-6E8A-4147-A177-3AD203B41FA5}">
                      <a16:colId xmlns:a16="http://schemas.microsoft.com/office/drawing/2014/main" val="760361737"/>
                    </a:ext>
                  </a:extLst>
                </a:gridCol>
                <a:gridCol w="1567544">
                  <a:extLst>
                    <a:ext uri="{9D8B030D-6E8A-4147-A177-3AD203B41FA5}">
                      <a16:colId xmlns:a16="http://schemas.microsoft.com/office/drawing/2014/main" val="2972026219"/>
                    </a:ext>
                  </a:extLst>
                </a:gridCol>
              </a:tblGrid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SGBD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X 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679771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Oracle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444060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PostgreSQL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integer</a:t>
                      </a:r>
                      <a:r>
                        <a:rPr lang="fr-FR" dirty="0"/>
                        <a:t> as a 2-byte (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32768)</a:t>
                      </a:r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394642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108464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4215332-D00F-45E6-A9F1-52DC0BC036DB}"/>
              </a:ext>
            </a:extLst>
          </p:cNvPr>
          <p:cNvSpPr txBox="1"/>
          <p:nvPr/>
        </p:nvSpPr>
        <p:spPr>
          <a:xfrm>
            <a:off x="9811256" y="5235569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51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Shot !  Produit cartésien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7831342-37D1-45A0-9EB3-10E7579CB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28" y="1366166"/>
            <a:ext cx="6817112" cy="3693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distinct sc FROM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INNER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300" b="0" i="1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(value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3E35CCF-332F-4D6E-BB85-E0060F0D9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5352" y="2681837"/>
            <a:ext cx="4584342" cy="14927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attributeNodes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1300" dirty="0">
                <a:solidFill>
                  <a:srgbClr val="080808"/>
                </a:solidFill>
                <a:latin typeface="Fira Code"/>
              </a:rPr>
              <a:t>	    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	                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"teachers"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)}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1B618C4-A69F-48D6-9491-20E7DF6C7649}"/>
              </a:ext>
            </a:extLst>
          </p:cNvPr>
          <p:cNvCxnSpPr/>
          <p:nvPr/>
        </p:nvCxnSpPr>
        <p:spPr>
          <a:xfrm>
            <a:off x="3394639" y="3550043"/>
            <a:ext cx="94041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EBD28168-5FA5-4BA9-8606-9724E2C22CDD}"/>
              </a:ext>
            </a:extLst>
          </p:cNvPr>
          <p:cNvSpPr txBox="1"/>
          <p:nvPr/>
        </p:nvSpPr>
        <p:spPr>
          <a:xfrm>
            <a:off x="521207" y="5091569"/>
            <a:ext cx="100658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Réalise un produit cartésien, mais avec une seule requête</a:t>
            </a:r>
            <a:br>
              <a:rPr lang="fr-FR" dirty="0">
                <a:solidFill>
                  <a:srgbClr val="FF0000"/>
                </a:solidFill>
              </a:rPr>
            </a:br>
            <a:r>
              <a:rPr lang="fr-FR" dirty="0"/>
              <a:t>Nb résultat = </a:t>
            </a:r>
            <a:r>
              <a:rPr lang="fr-FR" dirty="0">
                <a:solidFill>
                  <a:srgbClr val="7030A0"/>
                </a:solidFill>
              </a:rPr>
              <a:t>nb entités racines</a:t>
            </a:r>
            <a:r>
              <a:rPr lang="fr-FR" dirty="0"/>
              <a:t> *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nb entités filles type 1 </a:t>
            </a:r>
            <a:r>
              <a:rPr lang="fr-FR" dirty="0"/>
              <a:t>* </a:t>
            </a:r>
            <a:r>
              <a:rPr lang="fr-FR" dirty="0">
                <a:solidFill>
                  <a:srgbClr val="0070C0"/>
                </a:solidFill>
              </a:rPr>
              <a:t>nb entités filles type 2</a:t>
            </a:r>
            <a:r>
              <a:rPr lang="fr-FR" dirty="0"/>
              <a:t> etc…</a:t>
            </a:r>
            <a:endParaRPr lang="fr-FR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Prérequis : Remplacer List&lt;&gt; par Set&lt;&gt;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Bien pour des jointures avec des volumétries de l’ordre de grandeur de la centaine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Prioritaire par rapport aux annotations </a:t>
            </a:r>
            <a:r>
              <a:rPr lang="fr-FR" dirty="0" err="1"/>
              <a:t>hibernate</a:t>
            </a:r>
            <a:r>
              <a:rPr lang="fr-FR" dirty="0"/>
              <a:t> 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lang="fr-FR" dirty="0"/>
              <a:t> &amp;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lang="fr-FR" dirty="0"/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recherche, utilisez la clause </a:t>
            </a:r>
            <a:r>
              <a:rPr lang="fr-FR" dirty="0" err="1"/>
              <a:t>limit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819BF36-B9EE-4A35-9774-BC2012A8FE53}"/>
              </a:ext>
            </a:extLst>
          </p:cNvPr>
          <p:cNvSpPr txBox="1"/>
          <p:nvPr/>
        </p:nvSpPr>
        <p:spPr>
          <a:xfrm>
            <a:off x="10166258" y="5569056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0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Erreur classique !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Condition :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Relation parent avec au moins deux List&lt;fils&gt;… (le type List empêche le produit cartésien)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Tout mettre en EAGER ou faire des FETCH sur tous les fils en même temps</a:t>
            </a:r>
          </a:p>
          <a:p>
            <a:endParaRPr lang="fr-FR" dirty="0"/>
          </a:p>
          <a:p>
            <a:r>
              <a:rPr lang="fr-FR" dirty="0" err="1"/>
              <a:t>org.hibernate.loader.</a:t>
            </a:r>
            <a:r>
              <a:rPr lang="fr-FR" dirty="0" err="1">
                <a:solidFill>
                  <a:srgbClr val="FF0000"/>
                </a:solidFill>
              </a:rPr>
              <a:t>MultipleBagFetchException</a:t>
            </a:r>
            <a:r>
              <a:rPr lang="fr-FR" dirty="0"/>
              <a:t>: </a:t>
            </a:r>
            <a:r>
              <a:rPr lang="fr-FR" dirty="0" err="1"/>
              <a:t>cannot</a:t>
            </a:r>
            <a:r>
              <a:rPr lang="fr-FR" dirty="0"/>
              <a:t> </a:t>
            </a:r>
            <a:r>
              <a:rPr lang="fr-FR" dirty="0" err="1"/>
              <a:t>simultaneously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 multiple </a:t>
            </a:r>
            <a:r>
              <a:rPr lang="fr-FR" dirty="0" err="1"/>
              <a:t>bags</a:t>
            </a:r>
            <a:r>
              <a:rPr lang="fr-FR" dirty="0"/>
              <a:t>:</a:t>
            </a:r>
          </a:p>
          <a:p>
            <a:r>
              <a:rPr lang="fr-FR" dirty="0"/>
              <a:t>[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students</a:t>
            </a:r>
            <a:r>
              <a:rPr lang="fr-FR" dirty="0"/>
              <a:t>, 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teachers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76478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Temps de réponse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B21C0C4-B67F-4946-91F5-57FCE1A1731F}"/>
              </a:ext>
            </a:extLst>
          </p:cNvPr>
          <p:cNvSpPr txBox="1"/>
          <p:nvPr/>
        </p:nvSpPr>
        <p:spPr>
          <a:xfrm>
            <a:off x="521207" y="1588612"/>
            <a:ext cx="97901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Sur un accès unitaire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Avec un outil de test de charge : </a:t>
            </a:r>
            <a:r>
              <a:rPr lang="fr-FR" dirty="0" err="1"/>
              <a:t>Gatling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51392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// relation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xxxToOne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 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Page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(Type</a:t>
            </a:r>
            <a:r>
              <a:rPr kumimoji="0" lang="fr-FR" altLang="fr-FR" sz="1400" b="0" i="0" u="none" strike="noStrike" cap="none" normalizeH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{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elements</a:t>
            </a:r>
            <a:r>
              <a:rPr lang="fr-FR" sz="1400" dirty="0"/>
              <a:t>": [</a:t>
            </a:r>
          </a:p>
          <a:p>
            <a:r>
              <a:rPr lang="fr-FR" sz="1400" dirty="0"/>
              <a:t>     ... </a:t>
            </a:r>
            <a:r>
              <a:rPr lang="fr-FR" sz="1400" dirty="0" err="1">
                <a:highlight>
                  <a:srgbClr val="FFFF00"/>
                </a:highlight>
              </a:rPr>
              <a:t>schools</a:t>
            </a:r>
            <a:endParaRPr lang="fr-FR" sz="1400" dirty="0">
              <a:highlight>
                <a:srgbClr val="FFFF00"/>
              </a:highlight>
            </a:endParaRPr>
          </a:p>
          <a:p>
            <a:r>
              <a:rPr lang="fr-FR" sz="1400" dirty="0"/>
              <a:t>  ],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totalElements</a:t>
            </a:r>
            <a:r>
              <a:rPr lang="fr-FR" sz="1400" dirty="0"/>
              <a:t>": 36,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totalPages</a:t>
            </a:r>
            <a:r>
              <a:rPr lang="fr-FR" sz="1400" dirty="0"/>
              <a:t>": 9,</a:t>
            </a:r>
          </a:p>
          <a:p>
            <a:r>
              <a:rPr lang="fr-FR" sz="1400" dirty="0"/>
              <a:t>  "offset":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pageNumber</a:t>
            </a:r>
            <a:r>
              <a:rPr lang="fr-FR" sz="1400" dirty="0"/>
              <a:t>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pageSize</a:t>
            </a:r>
            <a:r>
              <a:rPr lang="fr-FR" sz="1400" dirty="0"/>
              <a:t>": 4,</a:t>
            </a:r>
          </a:p>
          <a:p>
            <a:r>
              <a:rPr lang="fr-FR" sz="1400" dirty="0"/>
              <a:t>  "last": false</a:t>
            </a:r>
          </a:p>
          <a:p>
            <a:r>
              <a:rPr lang="fr-FR" sz="1400" dirty="0"/>
              <a:t>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660169F-952A-4E96-B592-E414BD734445}"/>
              </a:ext>
            </a:extLst>
          </p:cNvPr>
          <p:cNvSpPr txBox="1"/>
          <p:nvPr/>
        </p:nvSpPr>
        <p:spPr>
          <a:xfrm>
            <a:off x="10015651" y="5622845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findAllPagination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37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 Infinie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findAllSlice</a:t>
            </a:r>
            <a:r>
              <a:rPr lang="fr-FR" altLang="fr-FR" sz="1400" dirty="0">
                <a:solidFill>
                  <a:srgbClr val="080808"/>
                </a:solidFill>
                <a:latin typeface="Fira Code"/>
              </a:rPr>
              <a:t>(Type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{</a:t>
            </a:r>
          </a:p>
          <a:p>
            <a:r>
              <a:rPr lang="en-US" sz="1400" dirty="0"/>
              <a:t>  "elements": [</a:t>
            </a:r>
          </a:p>
          <a:p>
            <a:r>
              <a:rPr lang="en-US" sz="1400" dirty="0"/>
              <a:t>    … </a:t>
            </a:r>
            <a:r>
              <a:rPr lang="en-US" sz="1400" dirty="0">
                <a:highlight>
                  <a:srgbClr val="FFFF00"/>
                </a:highlight>
              </a:rPr>
              <a:t>schools</a:t>
            </a:r>
          </a:p>
          <a:p>
            <a:r>
              <a:rPr lang="en-US" sz="1400" dirty="0"/>
              <a:t>  ],</a:t>
            </a:r>
          </a:p>
          <a:p>
            <a:r>
              <a:rPr lang="en-US" sz="1400" dirty="0"/>
              <a:t>  "offset": 4,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pageNumber</a:t>
            </a:r>
            <a:r>
              <a:rPr lang="en-US" sz="1400" dirty="0"/>
              <a:t>": 1,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pageSize</a:t>
            </a:r>
            <a:r>
              <a:rPr lang="en-US" sz="1400" dirty="0"/>
              <a:t>": 4,</a:t>
            </a:r>
          </a:p>
          <a:p>
            <a:r>
              <a:rPr lang="en-US" sz="1400" dirty="0"/>
              <a:t>  "last": false</a:t>
            </a:r>
          </a:p>
          <a:p>
            <a:r>
              <a:rPr lang="en-US" sz="1400" dirty="0"/>
              <a:t>}</a:t>
            </a:r>
            <a:endParaRPr lang="fr-FR" sz="14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AE01E2-0702-40FA-9154-D99A819595D9}"/>
              </a:ext>
            </a:extLst>
          </p:cNvPr>
          <p:cNvSpPr txBox="1"/>
          <p:nvPr/>
        </p:nvSpPr>
        <p:spPr>
          <a:xfrm>
            <a:off x="7221070" y="4706036"/>
            <a:ext cx="278354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 "</a:t>
            </a:r>
            <a:r>
              <a:rPr lang="fr-FR" sz="1800" dirty="0" err="1"/>
              <a:t>totalElements</a:t>
            </a:r>
            <a:r>
              <a:rPr lang="fr-FR" sz="1800" dirty="0"/>
              <a:t>": 36,</a:t>
            </a:r>
          </a:p>
          <a:p>
            <a:r>
              <a:rPr lang="fr-FR" sz="1800" dirty="0"/>
              <a:t>  "</a:t>
            </a:r>
            <a:r>
              <a:rPr lang="fr-FR" sz="1800" dirty="0" err="1"/>
              <a:t>totalPages</a:t>
            </a:r>
            <a:r>
              <a:rPr lang="fr-FR" sz="1800" dirty="0"/>
              <a:t>": 9,</a:t>
            </a:r>
            <a:endParaRPr lang="fr-FR" dirty="0"/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B7F8636C-A9E7-427E-AC98-D653DA31026F}"/>
              </a:ext>
            </a:extLst>
          </p:cNvPr>
          <p:cNvSpPr/>
          <p:nvPr/>
        </p:nvSpPr>
        <p:spPr>
          <a:xfrm>
            <a:off x="5002306" y="4940834"/>
            <a:ext cx="1644383" cy="51483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473427-6A4D-423E-BC24-14197EAE7950}"/>
              </a:ext>
            </a:extLst>
          </p:cNvPr>
          <p:cNvSpPr txBox="1"/>
          <p:nvPr/>
        </p:nvSpPr>
        <p:spPr>
          <a:xfrm>
            <a:off x="5002305" y="4521370"/>
            <a:ext cx="16443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Supprimé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1 </a:t>
            </a:r>
            <a:r>
              <a:rPr lang="fr-FR" dirty="0" err="1"/>
              <a:t>req</a:t>
            </a:r>
            <a:r>
              <a:rPr lang="fr-FR" dirty="0"/>
              <a:t> count économisée !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35F6EF-9ACE-436C-8D37-482743F7B4CA}"/>
              </a:ext>
            </a:extLst>
          </p:cNvPr>
          <p:cNvSpPr txBox="1"/>
          <p:nvPr/>
        </p:nvSpPr>
        <p:spPr>
          <a:xfrm>
            <a:off x="10331209" y="5675532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findAllSlice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7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9" grpId="0"/>
      <p:bldP spid="8" grpId="0" animBg="1"/>
      <p:bldP spid="11" grpId="0"/>
      <p:bldP spid="1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B0572-8807-4D51-922C-2D068019A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081684" cy="640080"/>
          </a:xfrm>
        </p:spPr>
        <p:txBody>
          <a:bodyPr>
            <a:normAutofit/>
          </a:bodyPr>
          <a:lstStyle/>
          <a:p>
            <a:r>
              <a:rPr lang="fr-FR" dirty="0"/>
              <a:t>Erreur de pagination : Hibernate favorise la consistance des données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47C55-F15D-403B-B851-9254F2C28502}"/>
              </a:ext>
            </a:extLst>
          </p:cNvPr>
          <p:cNvSpPr txBox="1"/>
          <p:nvPr/>
        </p:nvSpPr>
        <p:spPr>
          <a:xfrm>
            <a:off x="607039" y="1446615"/>
            <a:ext cx="853888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HHH000104: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firstResult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/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maxResults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 specified with collection fetch; applying in memory!</a:t>
            </a:r>
          </a:p>
          <a:p>
            <a:endParaRPr lang="en-US" dirty="0">
              <a:solidFill>
                <a:srgbClr val="FF0000"/>
              </a:solidFill>
              <a:latin typeface="SFMono-Regular"/>
            </a:endParaRPr>
          </a:p>
          <a:p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On ne peut pas mélanger </a:t>
            </a:r>
            <a:r>
              <a:rPr lang="fr-FR" altLang="fr-FR" dirty="0" err="1">
                <a:highlight>
                  <a:srgbClr val="FFFF00"/>
                </a:highlight>
                <a:latin typeface="SFMono-Regular"/>
              </a:rPr>
              <a:t>Fetch</a:t>
            </a:r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 et pagination, sinon on tronquerait les résultats, donc le système récupère tous les enregistrements liés à la portée de la requête de départ !</a:t>
            </a:r>
          </a:p>
          <a:p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Et si pas de filtre…</a:t>
            </a:r>
          </a:p>
          <a:p>
            <a:r>
              <a:rPr lang="fr-FR" dirty="0">
                <a:highlight>
                  <a:srgbClr val="FFFF00"/>
                </a:highlight>
                <a:latin typeface="SFMono-Regular"/>
              </a:rPr>
              <a:t>Et la pagination se fait en mémoire !!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D6F9A6D-12F8-4641-A4CE-D1CDC5F87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879" y="3421201"/>
            <a:ext cx="10919012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le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OneToOne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ne pose pas de problème car c'est le même tuple !!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dirty="0">
                <a:solidFill>
                  <a:srgbClr val="9E880D"/>
                </a:solidFill>
                <a:latin typeface="Fira Code"/>
              </a:rPr>
              <a:t>@EntityGraph</a:t>
            </a:r>
            <a:r>
              <a:rPr lang="fr-FR" altLang="fr-FR" dirty="0">
                <a:solidFill>
                  <a:srgbClr val="080808"/>
                </a:solidFill>
                <a:latin typeface="Fira Code"/>
              </a:rPr>
              <a:t>(attributePaths = {</a:t>
            </a:r>
            <a:r>
              <a:rPr lang="fr-FR" altLang="fr-FR" dirty="0">
                <a:solidFill>
                  <a:srgbClr val="067D17"/>
                </a:solidFill>
                <a:latin typeface="Fira Code"/>
              </a:rPr>
              <a:t>"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director</a:t>
            </a:r>
            <a:r>
              <a:rPr lang="fr-FR" altLang="fr-FR" dirty="0">
                <a:solidFill>
                  <a:srgbClr val="067D17"/>
                </a:solidFill>
                <a:latin typeface="Fira Code"/>
              </a:rPr>
              <a:t>"</a:t>
            </a:r>
            <a:r>
              <a:rPr lang="fr-FR" altLang="fr-FR" dirty="0">
                <a:solidFill>
                  <a:srgbClr val="080808"/>
                </a:solidFill>
                <a:latin typeface="Fira Code"/>
              </a:rPr>
              <a:t>})  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=&gt;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director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 est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OneToOne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@EntityGraph(attributePaths = {"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students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teachers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"}) =&gt; 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DF48DB-99B2-4292-B898-751F34837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3071" y="1544157"/>
            <a:ext cx="1559242" cy="155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54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Requêtes Natives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85F6CB-B585-4331-9090-432508ECA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72" y="3144691"/>
            <a:ext cx="8352544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D19003-0420-4376-B01D-F314DB9282C5}"/>
              </a:ext>
            </a:extLst>
          </p:cNvPr>
          <p:cNvSpPr txBox="1"/>
          <p:nvPr/>
        </p:nvSpPr>
        <p:spPr>
          <a:xfrm>
            <a:off x="521207" y="1544336"/>
            <a:ext cx="105899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faire des requêtes complexes non supportées par les ORM, exemple : </a:t>
            </a:r>
            <a:r>
              <a:rPr lang="fr-FR" dirty="0" err="1"/>
              <a:t>SubSelect</a:t>
            </a:r>
            <a:r>
              <a:rPr lang="fr-FR" dirty="0"/>
              <a:t> imbriqués…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contrôler avec certitudes ce qui est exécuté par la couche JDBC, la requête est jouée telle quelle dans la BDD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845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062428AA-28A0-4BE3-ABEA-BB3FE619BFD9}"/>
              </a:ext>
            </a:extLst>
          </p:cNvPr>
          <p:cNvSpPr txBox="1"/>
          <p:nvPr/>
        </p:nvSpPr>
        <p:spPr>
          <a:xfrm>
            <a:off x="521207" y="1544337"/>
            <a:ext cx="1006583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Pourquoi faire ? Pour sortir du modèle relationnel et faire des requêtes très rapides (Dashboard etc…) </a:t>
            </a:r>
            <a:r>
              <a:rPr lang="fr-FR" dirty="0">
                <a:sym typeface="Wingdings" panose="05000000000000000000" pitchFamily="2" charset="2"/>
              </a:rPr>
              <a:t> je ne récupère </a:t>
            </a:r>
            <a:r>
              <a:rPr lang="fr-FR" u="sng" dirty="0">
                <a:solidFill>
                  <a:srgbClr val="C00000"/>
                </a:solidFill>
                <a:sym typeface="Wingdings" panose="05000000000000000000" pitchFamily="2" charset="2"/>
              </a:rPr>
              <a:t>que</a:t>
            </a:r>
            <a:r>
              <a:rPr lang="fr-FR" dirty="0">
                <a:sym typeface="Wingdings" panose="05000000000000000000" pitchFamily="2" charset="2"/>
              </a:rPr>
              <a:t> les données nécessaires</a:t>
            </a:r>
            <a:endParaRPr lang="fr-FR" dirty="0"/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requête native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Sinon si JPQL :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27994-3EC4-42E4-AA8D-B0FC3D384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2841505"/>
            <a:ext cx="9182420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B3A47-2520-4A67-87B1-EC2C2ABF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467872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516332-7687-4792-A362-1841A28C5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573976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A2A450D1-F49E-473C-8825-E4DE29F6F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4850" y="6239011"/>
            <a:ext cx="4949952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ASC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238453D-9E09-4951-BB84-6257773F79D5}"/>
              </a:ext>
            </a:extLst>
          </p:cNvPr>
          <p:cNvCxnSpPr>
            <a:cxnSpLocks/>
          </p:cNvCxnSpPr>
          <p:nvPr/>
        </p:nvCxnSpPr>
        <p:spPr>
          <a:xfrm flipV="1">
            <a:off x="4525896" y="6409944"/>
            <a:ext cx="1148763" cy="136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28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 quelle type 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E7111F-2279-4EAB-A005-61C41902D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003830"/>
            <a:ext cx="5181600" cy="45243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com.fasterxml.jackson.annotation.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JsonProperty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 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close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"#{ target.name + ' -&gt; ' +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target.location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}"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open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82A45-F122-475A-850D-38563640E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3830"/>
            <a:ext cx="3224106" cy="26468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AllArgsConstructor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Getter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@AllArgsConstructor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AE8E4FF-5FC7-4631-9562-451FFF9352F6}"/>
              </a:ext>
            </a:extLst>
          </p:cNvPr>
          <p:cNvSpPr txBox="1"/>
          <p:nvPr/>
        </p:nvSpPr>
        <p:spPr>
          <a:xfrm>
            <a:off x="521207" y="1467500"/>
            <a:ext cx="1101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 requête native (« close » &amp; « open ») 		Sinon si JPQL (« class </a:t>
            </a:r>
            <a:r>
              <a:rPr lang="fr-FR" dirty="0" err="1"/>
              <a:t>based</a:t>
            </a:r>
            <a:r>
              <a:rPr lang="fr-FR" dirty="0"/>
              <a:t> ») :</a:t>
            </a:r>
          </a:p>
        </p:txBody>
      </p:sp>
    </p:spTree>
    <p:extLst>
      <p:ext uri="{BB962C8B-B14F-4D97-AF65-F5344CB8AC3E}">
        <p14:creationId xmlns:p14="http://schemas.microsoft.com/office/powerpoint/2010/main" val="156533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341524"/>
              </p:ext>
            </p:extLst>
          </p:nvPr>
        </p:nvGraphicFramePr>
        <p:xfrm>
          <a:off x="687421" y="1284051"/>
          <a:ext cx="10551267" cy="183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15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718909"/>
              </p:ext>
            </p:extLst>
          </p:nvPr>
        </p:nvGraphicFramePr>
        <p:xfrm>
          <a:off x="687421" y="1284051"/>
          <a:ext cx="10551267" cy="275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7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356"/>
              </p:ext>
            </p:extLst>
          </p:nvPr>
        </p:nvGraphicFramePr>
        <p:xfrm>
          <a:off x="687421" y="1284051"/>
          <a:ext cx="10551267" cy="3703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86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725693"/>
              </p:ext>
            </p:extLst>
          </p:nvPr>
        </p:nvGraphicFramePr>
        <p:xfrm>
          <a:off x="687421" y="1284051"/>
          <a:ext cx="10551267" cy="528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  <a:tr h="158137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Dashboard</a:t>
                      </a:r>
                    </a:p>
                    <a:p>
                      <a:pPr algn="ctr"/>
                      <a:endParaRPr lang="fr-FR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Pagination avancée</a:t>
                      </a:r>
                    </a:p>
                    <a:p>
                      <a:pPr algn="ctr"/>
                      <a:r>
                        <a:rPr lang="fr-FR" sz="1400" dirty="0"/>
                        <a:t>(tape dans toutes les tables, &gt; 6 jointures)</a:t>
                      </a:r>
                    </a:p>
                    <a:p>
                      <a:pPr algn="ctr"/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Projection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2696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03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Properties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608329"/>
            <a:ext cx="10961915" cy="25853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pratique pour vérifier que le schéma correspond bien aux entités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déclarées, ne jamais mettre « none »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ne permet pas l’accès à l’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entity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 manager en dehors du repository (n+1)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affiche les requêtes avec formatage si besoin,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ne jamais activer en dehors du dev !!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spring.jpa.show-sql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spring.jpa.properties.hibernate.format_sql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true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67D17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logging.level.org.hibernate.type.descriptor.sql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trace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51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Contrôle du schéma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Création des indexes dans le modèle sur les champs où des filtres sont faits !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D7C881-1033-4C95-A3F5-721F77D326D7}"/>
              </a:ext>
            </a:extLst>
          </p:cNvPr>
          <p:cNvSpPr txBox="1"/>
          <p:nvPr/>
        </p:nvSpPr>
        <p:spPr>
          <a:xfrm>
            <a:off x="743430" y="1737730"/>
            <a:ext cx="409751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endParaRPr lang="fr-F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15A37DB-C73C-4F48-A6B3-8B848B9F7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430" y="2318249"/>
            <a:ext cx="7595673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@Setter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location_school_index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98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Code source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351B732-5CDD-4F7E-9691-AF0E2CE8CDA3}"/>
              </a:ext>
            </a:extLst>
          </p:cNvPr>
          <p:cNvSpPr txBox="1"/>
          <p:nvPr/>
        </p:nvSpPr>
        <p:spPr>
          <a:xfrm>
            <a:off x="521207" y="1708680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hlinkClick r:id="rId3"/>
              </a:rPr>
              <a:t>https://github.com/sebzuki/hibernate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0432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Questions ?</a:t>
            </a:r>
          </a:p>
        </p:txBody>
      </p:sp>
      <p:pic>
        <p:nvPicPr>
          <p:cNvPr id="1026" name="Picture 2" descr="La comédie «lourde» à la française, un cinéma social | Slate.fr">
            <a:extLst>
              <a:ext uri="{FF2B5EF4-FFF2-40B4-BE49-F238E27FC236}">
                <a16:creationId xmlns:a16="http://schemas.microsoft.com/office/drawing/2014/main" id="{4625B0D1-5AEC-4614-BD48-24C59880CB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341" y="1709737"/>
            <a:ext cx="10953318" cy="4462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557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ocBienven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715139_TF10001108" id="{0F4DAE25-207A-47CE-9E2B-3598C2DA80C7}" vid="{5BACCDA3-61AD-4862-913E-13CB4EF92D9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0072C5-DDE0-4258-BA7A-4D4B80DFA632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16c05727-aa75-4e4a-9b5f-8a80a1165891"/>
    <ds:schemaRef ds:uri="71af3243-3dd4-4a8d-8c0d-dd76da1f02a5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{A11A8289-2BB9-41B2-8D3B-8C60102848CA}tf10001108</Template>
  <TotalTime>0</TotalTime>
  <Words>4216</Words>
  <Application>Microsoft Office PowerPoint</Application>
  <PresentationFormat>Grand écran</PresentationFormat>
  <Paragraphs>450</Paragraphs>
  <Slides>34</Slides>
  <Notes>33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43" baseType="lpstr">
      <vt:lpstr>Arial</vt:lpstr>
      <vt:lpstr>Calibri</vt:lpstr>
      <vt:lpstr>Courier New</vt:lpstr>
      <vt:lpstr>Fira Code</vt:lpstr>
      <vt:lpstr>Segoe UI</vt:lpstr>
      <vt:lpstr>Segoe UI Light</vt:lpstr>
      <vt:lpstr>SFMono-Regular</vt:lpstr>
      <vt:lpstr>Wingdings</vt:lpstr>
      <vt:lpstr>DocBienvenue</vt:lpstr>
      <vt:lpstr>Spring Data JPA Hibernate  La belle vie ;) </vt:lpstr>
      <vt:lpstr>Spring Boot / Spring Data</vt:lpstr>
      <vt:lpstr>Le but de cette présentation</vt:lpstr>
      <vt:lpstr>Notre modèle de démo qui va nous poser des problèmes !</vt:lpstr>
      <vt:lpstr>Notre modèle de démo : MCD</vt:lpstr>
      <vt:lpstr>Sérialisation JSON / « grappe » complète</vt:lpstr>
      <vt:lpstr>One to One / Many to One</vt:lpstr>
      <vt:lpstr>One to Many / Many to One</vt:lpstr>
      <vt:lpstr>Many to Many / n – n / bidirectionnelle</vt:lpstr>
      <vt:lpstr>Type de jointure Eager ou Lazy ? (Attribut « FetchType »)</vt:lpstr>
      <vt:lpstr>Mon repository !</vt:lpstr>
      <vt:lpstr>N+1 ?? Exemple avec une sortie de Controller &amp; Proxy Entité </vt:lpstr>
      <vt:lpstr>N+1 Quand ?</vt:lpstr>
      <vt:lpstr>Entity Manager et sa portée / transaction</vt:lpstr>
      <vt:lpstr>Jointures ? Dans quel cas ?</vt:lpstr>
      <vt:lpstr>Si l’on veut récupérer tout l’arbre de données</vt:lpstr>
      <vt:lpstr>@BatchSize(size = x), mais consomme un peu plus de mémoire/cpu</vt:lpstr>
      <vt:lpstr>One Shot !  Produit cartésien</vt:lpstr>
      <vt:lpstr>Erreur classique !</vt:lpstr>
      <vt:lpstr>Temps de réponse</vt:lpstr>
      <vt:lpstr>Pagination</vt:lpstr>
      <vt:lpstr>Pagination Infinie</vt:lpstr>
      <vt:lpstr>Erreur de pagination : Hibernate favorise la consistance des données</vt:lpstr>
      <vt:lpstr>Requêtes Natives</vt:lpstr>
      <vt:lpstr>Projection</vt:lpstr>
      <vt:lpstr>Projection quelle type ?</vt:lpstr>
      <vt:lpstr>Récap</vt:lpstr>
      <vt:lpstr>Récap</vt:lpstr>
      <vt:lpstr>Récap</vt:lpstr>
      <vt:lpstr>Récap</vt:lpstr>
      <vt:lpstr>Properties</vt:lpstr>
      <vt:lpstr>Contrôle du schéma</vt:lpstr>
      <vt:lpstr>Code source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2020-03-02T19:13:17Z</dcterms:created>
  <dcterms:modified xsi:type="dcterms:W3CDTF">2021-06-21T14:39:35Z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